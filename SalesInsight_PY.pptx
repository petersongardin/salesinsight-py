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SalesInsight 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C9DAEC"/>
                </a:solidFill>
              </a:defRPr>
            </a:pPr>
            <a:r>
              <a:t>Análise e visualização de dados de vendas com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9DAEC"/>
                </a:solidFill>
              </a:defRPr>
            </a:pPr>
            <a:r>
              <a:t>Objetivo: transformar um CSV de vendas em respostas para a diretoria — tempo, produtos, regiões, clientes e relação quantidade × receita.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CBADC"/>
                </a:solidFill>
              </a:defRPr>
            </a:pPr>
            <a:r>
              <a:t>Mini-Projeto M1.1 — Análise Preditiva — Módulo 01 — Semana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O que instalar para executar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237744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600">
                <a:solidFill>
                  <a:srgbClr val="D4D4D4"/>
                </a:solidFill>
                <a:latin typeface="Consolas"/>
              </a:defRPr>
            </a:pPr>
            <a:r>
              <a:t># Python 3.10 ou superior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pip install -r requirements.txt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# executar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python salesinsight.py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# ou no Google Colab (recomendado pela disciplina):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!pip install -q pandas numpy matplotlib seaborn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749039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Bibliotecas: pandas · numpy · matplotlib · seaborn</a:t>
            </a:r>
            <a:br/>
            <a:r>
              <a:t>O vendas.csv é gerado automaticamente se não existir — não depende de arquivo externo.</a:t>
            </a:r>
            <a:br/>
            <a:r>
              <a:t>Também roda no Google Colab, sem instalação manual (bibliotecas já vêm prontas).</a:t>
            </a:r>
          </a:p>
        </p:txBody>
      </p:sp>
      <p:pic>
        <p:nvPicPr>
          <p:cNvPr id="5" name="Picture 4" descr="github_repo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82833"/>
            <a:ext cx="5486400" cy="3366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989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Repositório público — estrutura real de arquivos no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github.com/petersongardin/SalesInsight-PY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RF01 — Criar o dataset de vendas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Dataset sintético gerado por código, com seed fixa (reprodutível) e ~3% de datas inválidas de propósito.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def gerar_dataset_vendas(n_registros=200, seed=42):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random.seed(seed)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np.random.seed(seed)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...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for i in range(n_registros):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produto = random.choice(produtos)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quantidade = random.randint(1, 10)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preco = round(precos[produto] *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      random.uniform(0.85, 1.15), 2)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data_txt = data.strftime("%Y-%m-%d")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if random.random() &lt; 0.03: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data_txt = "DATA INVALIDA"  # sujeira proposital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dados.append({...})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return pd.DataFrame(dados)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df_bruto = gerar_dataset_vendas()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df_bruto.to_csv("vendas.csv", index=False)</a:t>
            </a:r>
          </a:p>
        </p:txBody>
      </p:sp>
      <p:pic>
        <p:nvPicPr>
          <p:cNvPr id="5" name="Picture 4" descr="rf01_vendas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02022"/>
            <a:ext cx="5516575" cy="24940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vendas.csv — 200 linhas geradas (print real da planilha)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RF01 · salesinsight.py linhas 28-77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RF02 — Inspecionar e descrever 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Apenas estrutura (shape, tipos, nulos) — isnull() não detecta "DATA INVALIDA" porque é texto preenchido, não célula vazia.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def inspecionar_dados(df):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print(f"Shape: {df.shape}")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print(f"Colunas: {list(df.columns)}")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print(f"Tipos:\n{df.dtypes}")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print(f"Nulos:\n{df.isnull().sum()}")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print(f"Primeiros registros:\n{df.head()}")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return df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inspecionar_dados(df_bruto)</a:t>
            </a:r>
          </a:p>
        </p:txBody>
      </p:sp>
      <p:pic>
        <p:nvPicPr>
          <p:cNvPr id="5" name="Picture 4" descr="rf02_inspe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31" y="1508760"/>
            <a:ext cx="4922153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Tipos de cada coluna e contagem de nulos (.dtypes / .isnull().sum())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RF02 · salesinsight.py linhas 83-91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RF03 — Tratar os dados (datetime)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errors="coerce" converte texto inválido em NaT; dropna remove essas linhas — sem data não há mês/trimestre.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def tratar_dados(df):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 = df.copy()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for c in colunas_texto: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df[c] = df[c].astype(str).str.strip()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df["data_venda"] = pd.to_datetime(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df["data_venda"], errors="coerce")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invalidas = df["data_venda"].isnull().sum()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 = df.dropna(subset=["data_venda"])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df["quantidade"] = df["quantidade"].astype(int)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df["preco_unitario"] = df["preco_unitario"]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              .astype(float)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return df.reset_index(drop=True), relatorio</a:t>
            </a:r>
          </a:p>
        </p:txBody>
      </p:sp>
      <p:pic>
        <p:nvPicPr>
          <p:cNvPr id="5" name="Picture 4" descr="rf03_relatorio_limp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99770"/>
            <a:ext cx="5516575" cy="28985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Relatório de limpeza real: 200 → 194 registros (6 removidos, 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RF03 · salesinsight.py linhas 97-138 — decisão: remover, não imputar (fora do escopo do módulo)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RF04 — Colunas derivadas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receita_total vetorizada; np.select é um if/elif/else que roda na coluna inteira, sem loop manual.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df["receita_total"] = (df["quantidade"]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        * df["preco_unitario"])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df["mes"] = df["data_venda"].dt.month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df["mes_nome"] = df["mes"].map(MESES_PT)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df["trimestre"] = ("Q" +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df["data_venda"].dt.quarter.astype(str))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condicoes = [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df["receita_total"] &lt; 500,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(df["receita_total"] &gt;= 500) &amp;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(df["receita_total"] &lt; 5000),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df["receita_total"] &gt;= 5000,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]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faixas = ["Baixo Valor", "Medio Valor", "Alto Valor"]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df["faixa_receita_item"] = np.select(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condicoes, faixas, default="Nao Classificado")</a:t>
            </a:r>
          </a:p>
        </p:txBody>
      </p:sp>
      <p:pic>
        <p:nvPicPr>
          <p:cNvPr id="5" name="Picture 4" descr="rf04_colunas_deriv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872375"/>
            <a:ext cx="5516575" cy="17533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Colunas calculadas — amostra real do DataFrame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RF04 · salesinsight.py linhas 144-161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RF05 — Métricas agregadas (groupby)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groupby + agg com nomes explícitos; sum() soma valores, count() conta linhas — diferença que aparece nos resultados.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metricas["por_mes"] = 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df.groupby("mes")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.agg(receita_total=("receita_total", "sum"),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quantidade=("quantidade", "sum"),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n_vendas=("id_venda", "count"))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.reset_index())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metricas["top_produtos"] = 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df.groupby("produto")["receita_total"].sum()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.sort_values(ascending=False)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.head(5).reset_index())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metricas["por_regiao"] = 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df.groupby("regiao")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.agg(receita_total=("receita_total", "sum"),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ticket_medio=("receita_total", "mean"))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...)</a:t>
            </a:r>
          </a:p>
        </p:txBody>
      </p:sp>
      <p:pic>
        <p:nvPicPr>
          <p:cNvPr id="5" name="Picture 4" descr="rf05_metricas_por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55450"/>
            <a:ext cx="5516574" cy="39871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Receita, quantidade e nº de vendas por mês — resultado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RF05 · salesinsight.py linhas 177-211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RF06 — Segmentar clientes por gasto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Bronze &lt; R$ 5.000 · Prata até R$ 15.000 · Ouro &gt; R$ 15.000 (limites do enunciado) — classificação via .apply(lambda).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clientes = 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df.groupby("cliente")["receita_total"].sum()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.reset_index(name="total_gasto"))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# lambda: regra de segmento, aplicada linha a linha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clientes["segmento"] = clientes["total_gasto"].apply(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lambda v: "Bronze" if v &lt; 5000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else ("Prata" if v &lt;= 15000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else "Ouro"))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clientes = clientes.sort_values(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"total_gasto", ascending=False)</a:t>
            </a:r>
          </a:p>
        </p:txBody>
      </p:sp>
      <p:pic>
        <p:nvPicPr>
          <p:cNvPr id="5" name="Picture 4" descr="rf06_top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50157"/>
            <a:ext cx="5516575" cy="35977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Top 10 clientes por gasto total — resultado real (35/49 em Ouro)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RF06 · salesinsight.py linhas 217-231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RF07.1 — Receita por mês (linha)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Série temporal — linha é o tipo certo para mostrar tendência ao longo do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fig, ax = plt.subplots(figsize=(12, 6))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ax.plot(por_mes["mes"], por_mes["receita_total"],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marker="o", linewidth=2,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color=COR_PRINCIPAL, label="Receita total")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ax.set_title("Receita Total por Mes")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ax.set_xlabel("Mes")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ax.set_ylabel("Receita Total (R$)")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ax.legend()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fig.savefig("receita_por_mes.png", dpi=150)</a:t>
            </a:r>
          </a:p>
        </p:txBody>
      </p:sp>
      <p:pic>
        <p:nvPicPr>
          <p:cNvPr id="5" name="Picture 4" descr="receita_por_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69896"/>
            <a:ext cx="5516575" cy="27582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receita_por_mes.png — gerado por este código, imagem real do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RF07 · salesinsight.py linhas 257-328 — título, eixos, legenda, paleta e dpi=150 em todos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RF07.2 — Top 5 produtos (barras)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Comparação entre categorias sem ordem temporal — barra horizontal, nomes mais legíveis na lateral.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fig, ax = plt.subplots(figsize=(10, 6))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sns.barplot(data=top_produtos,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y="produto", x="receita_total",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hue="produto", legend=False,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palette="Blues_r", ax=ax)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ax.set_title("Top 5 Produtos por Receita")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fig.savefig("top_produtos.png", dpi=150)</a:t>
            </a:r>
          </a:p>
        </p:txBody>
      </p:sp>
      <p:pic>
        <p:nvPicPr>
          <p:cNvPr id="5" name="Picture 4" descr="top_produ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94067"/>
            <a:ext cx="5516575" cy="3309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top_produtos.png — gerado por este código, imagem real do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RF07 · salesinsight.py linhas 257-328 — título, eixos, legenda, paleta e dpi=150 em todos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RF07.3 — Quantidade × Receita (dispersão)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Relação entre duas variáveis numéricas por transação — dispersão é o gráfico certo para correlação.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fig, ax = plt.subplots(figsize=(10, 6))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sns.scatterplot(data=df, x="quantidade",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y="receita_total",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hue="categoria",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palette=CORES_CATEGORIA,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s=70, ax=ax)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ax.legend(title="Categoria")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fig.savefig("quantidade_vs_receita.png", dpi=150)</a:t>
            </a:r>
          </a:p>
        </p:txBody>
      </p:sp>
      <p:pic>
        <p:nvPicPr>
          <p:cNvPr id="5" name="Picture 4" descr="quantidade_vs_rece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94067"/>
            <a:ext cx="5516575" cy="33099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quantidade_vs_receita.png — gerado por este código, imagem real do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RF07 · salesinsight.py linhas 257-328 — título, eixos, legenda, paleta e dpi=150 em todos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RF07.4 — Painel resumo (subplots 2×2)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plt.subplots(2,2) cria uma matriz de eixos; axes[0,0], axes[1,0] etc. são acessados individualmente.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fig, axes = plt.subplots(2, 2, figsize=(14, 9))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axes[0, 0].plot(por_mes["mes"], ...)   # linha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axes[0, 1].bar(top["produto"], ...)     # barra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for categoria, grupo in df.groupby("categoria"):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axes[1, 0].scatter(...)              # dispersao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axes[1, 1].bar(regiao["regiao"], ...)   # regiao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fig.suptitle("SalesInsight PY - Painel Resumo")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fig.savefig("painel_resumo.png", dpi=150)</a:t>
            </a:r>
          </a:p>
        </p:txBody>
      </p:sp>
      <p:pic>
        <p:nvPicPr>
          <p:cNvPr id="5" name="Picture 4" descr="painel_re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75855"/>
            <a:ext cx="5516575" cy="35463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painel_resumo.png — gerado por este código, imagem real do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RF07 · salesinsight.py linhas 257-328 — título, eixos, legenda, paleta e dpi=150 em todos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RF08 — Função de ordem superior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processar_coluna recebe OUTRA FUNÇÃO como argumento (funcao_transformacao) — isso é o que a torna de ordem superior.</a:t>
            </a:r>
            <a:br/>
            <a:r>
              <a:t>Usada 3 vezes no projeto com lambdas diferentes: segmento de cliente, receita em milhares, perfil de volume.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1920240"/>
            <a:ext cx="8869680" cy="420624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500">
                <a:solidFill>
                  <a:srgbClr val="D4D4D4"/>
                </a:solidFill>
                <a:latin typeface="Consolas"/>
              </a:defRPr>
            </a:pPr>
            <a:r>
              <a:t>def processar_coluna(df, coluna,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                  funcao_transformacao,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                  nome_saida=None):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nome_saida = nome_saida or f"{coluna}_transf"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df[nome_saida] = df[coluna].apply(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    funcao_transformacao)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return df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# uso com lambdas diferentes: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df = processar_coluna(df, "receita_total",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lambda x: round(x / 1000, 2),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nome_saida="receita_em_milhares")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df = processar_coluna(df, "quantidade",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lambda q: "Alto Volume" if q &gt; 5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          else "Baixo Volume",</a:t>
            </a:r>
          </a:p>
          <a:p>
            <a:pPr>
              <a:defRPr sz="1500">
                <a:solidFill>
                  <a:srgbClr val="D4D4D4"/>
                </a:solidFill>
                <a:latin typeface="Consolas"/>
              </a:defRPr>
            </a:pPr>
            <a:r>
              <a:t>    nome_saida="perfil_volume")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RF08 · salesinsight.py linhas 167-171, 377-383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RF09 — Exportar CSV e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to_csv com utf-8-sig (acentos no Excel); json.dump + json.load logo depois comprova a gravação.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48640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250">
                <a:solidFill>
                  <a:srgbClr val="D4D4D4"/>
                </a:solidFill>
                <a:latin typeface="Consolas"/>
              </a:defRPr>
            </a:pPr>
            <a:r>
              <a:t>metricas["por_mes"].to_csv(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"outputs/metricas_por_mes.csv",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index=False, encoding="utf-8-sig")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serializavel = {k: round(float(v), 2)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  for k, v in estatisticas.items()}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with open(caminho, "w", encoding="utf-8") as f: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json.dump(serializavel, f, indent=4,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          ensure_ascii=False)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# releitura: prova de que a gravacao funcionou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with open(caminho, "r", encoding="utf-8") as f: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    conferencia = json.load(f)</a:t>
            </a:r>
          </a:p>
          <a:p>
            <a:pPr>
              <a:defRPr sz="1250">
                <a:solidFill>
                  <a:srgbClr val="D4D4D4"/>
                </a:solidFill>
                <a:latin typeface="Consolas"/>
              </a:defRPr>
            </a:pPr>
            <a:r>
              <a:t>print(f"JSON gravado e lido: {conferencia}")</a:t>
            </a:r>
          </a:p>
        </p:txBody>
      </p:sp>
      <p:pic>
        <p:nvPicPr>
          <p:cNvPr id="5" name="Picture 4" descr="rf09_estatisticas_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16351"/>
            <a:ext cx="5516575" cy="28653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5165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estatisticas_gerais.json — gravado e relido com sucesso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RF09 · salesinsight.py linhas 334-352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RF10 — Orquestração (ponto de entrada)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A classe guarda o estado entre as etapas. if __name__ == "__main__" garante que main() só roda quando o arquivo é executado direto — não quando importado.</a:t>
            </a:r>
            <a:br/>
            <a:r>
              <a:t>Ordem fixa: carregar → inspecionar → transformar (limpeza antes das derivadas) → analisar → visualizar → resumo.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2057400"/>
            <a:ext cx="8138160" cy="448056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400">
                <a:solidFill>
                  <a:srgbClr val="D4D4D4"/>
                </a:solidFill>
                <a:latin typeface="Consolas"/>
              </a:defRPr>
            </a:pPr>
            <a:r>
              <a:t>class AnalisadorDeVendas: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def __init__(self):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    self.df_bruto = None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    self.df = None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    self.metricas = None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    self.clientes = None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def carregar(self, caminho): ...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def transformar(self): ...   # limpa ANTES de derivar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def analisar(self): ...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def visualizar(self): ...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def resumo(self): ...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def main():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analisador = AnalisadorDeVendas()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analisador.carregar("vendas.csv")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analisador.transformar()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analisador.analisar()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analisador.visualizar()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analisador.resumo()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if __name__ == "__main__":</a:t>
            </a:r>
          </a:p>
          <a:p>
            <a:pPr>
              <a:defRPr sz="1400">
                <a:solidFill>
                  <a:srgbClr val="D4D4D4"/>
                </a:solidFill>
                <a:latin typeface="Consolas"/>
              </a:defRPr>
            </a:pPr>
            <a:r>
              <a:t>    main()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RF10 · salesinsight.py linhas 358-437 — fluxo completo testado do zero, 0 erros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Versionamento — branches e commits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main (estável) ← develop (integração) ← feat/pipeline-dados (todo o código) e docs/readme (documentação).</a:t>
            </a:r>
            <a:br/>
            <a:r>
              <a:t>Commits no padrão conventional commits: feat: · fix: · docs: · merge:</a:t>
            </a:r>
          </a:p>
        </p:txBody>
      </p:sp>
      <p:pic>
        <p:nvPicPr>
          <p:cNvPr id="4" name="Picture 3" descr="github_network_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48593"/>
            <a:ext cx="5486400" cy="33666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Grafo real do Git (GitHub Network) — merges visíveis</a:t>
            </a:r>
          </a:p>
        </p:txBody>
      </p:sp>
      <p:pic>
        <p:nvPicPr>
          <p:cNvPr id="6" name="Picture 5" descr="github_branch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48593"/>
            <a:ext cx="5486400" cy="3366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6080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Lista de branches reais no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github.com/petersongardin/SalesInsight-PY/network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Histórico de commits no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Cada commit é uma etapa do trabalho — mensagens no padrão conventional commits, nenhuma etapa escondida.</a:t>
            </a:r>
          </a:p>
        </p:txBody>
      </p:sp>
      <p:pic>
        <p:nvPicPr>
          <p:cNvPr id="4" name="Picture 3" descr="github_comm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7" y="1600200"/>
            <a:ext cx="789770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github.com/petersongardin/SalesInsight-PY/commits/main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Organização: Kanban (Trello)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04040"/>
                </a:solidFill>
              </a:defRPr>
            </a:pPr>
            <a:r>
              <a:t>4 colunas: Backlog · A Fazer · Em Andamento · Concluído — um card por RF, atualizado conforme o trabalho avançou.</a:t>
            </a:r>
          </a:p>
        </p:txBody>
      </p:sp>
      <p:pic>
        <p:nvPicPr>
          <p:cNvPr id="4" name="Picture 3" descr="trello_board_top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7" y="1600200"/>
            <a:ext cx="789770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trello.com/b/GrpLE5D8/salesinsight-py-kanban — link público de visualização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Decisão técnica: remover datas inválidas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5486400" cy="1554480"/>
          </a:xfrm>
          <a:prstGeom prst="roundRect">
            <a:avLst/>
          </a:prstGeom>
          <a:solidFill>
            <a:srgbClr val="1E1E1E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28016" bIns="128016"/>
          <a:lstStyle/>
          <a:p>
            <a:pPr algn="ctr">
              <a:defRPr sz="1600">
                <a:solidFill>
                  <a:srgbClr val="D4D4D4"/>
                </a:solidFill>
                <a:latin typeface="Consolas"/>
              </a:defRPr>
            </a:pPr>
            <a:r>
              <a:t>df["data_venda"] = pd.to_datetime(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    df["data_venda"], errors="coerce")</a:t>
            </a:r>
          </a:p>
          <a:p>
            <a:pPr>
              <a:defRPr sz="1600">
                <a:solidFill>
                  <a:srgbClr val="D4D4D4"/>
                </a:solidFill>
                <a:latin typeface="Consolas"/>
              </a:defRPr>
            </a:pPr>
            <a:r>
              <a:t>df = df.dropna(subset=["data_venda"])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017520"/>
            <a:ext cx="5486400" cy="1463040"/>
          </a:xfrm>
          <a:prstGeom prst="roundRect">
            <a:avLst/>
          </a:prstGeom>
          <a:solidFill>
            <a:srgbClr val="EAF1F8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b="1" sz="1600">
                <a:solidFill>
                  <a:srgbClr val="1F4E79"/>
                </a:solidFill>
              </a:defRPr>
            </a:pPr>
            <a:r>
              <a:t>Por que remover?</a:t>
            </a:r>
          </a:p>
          <a:p>
            <a:pPr>
              <a:defRPr sz="1400">
                <a:solidFill>
                  <a:srgbClr val="404040"/>
                </a:solidFill>
              </a:defRPr>
            </a:pPr>
            <a:r>
              <a:t>Sem data não há mês nem trimestre: manter distorceria as métricas por período.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663440"/>
            <a:ext cx="5486400" cy="1463040"/>
          </a:xfrm>
          <a:prstGeom prst="roundRect">
            <a:avLst/>
          </a:prstGeom>
          <a:solidFill>
            <a:srgbClr val="FDF2E3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b="1" sz="1600">
                <a:solidFill>
                  <a:srgbClr val="E07B00"/>
                </a:solidFill>
              </a:defRPr>
            </a:pPr>
            <a:r>
              <a:t>Custo</a:t>
            </a:r>
          </a:p>
          <a:p>
            <a:pPr>
              <a:defRPr sz="1400">
                <a:solidFill>
                  <a:srgbClr val="404040"/>
                </a:solidFill>
              </a:defRPr>
            </a:pPr>
            <a:r>
              <a:t>6 de 200 registros (3%), registrado no relatório de limpeza — sem imputação (fora do escopo do módulo).</a:t>
            </a:r>
          </a:p>
        </p:txBody>
      </p:sp>
      <p:pic>
        <p:nvPicPr>
          <p:cNvPr id="6" name="Picture 5" descr="rf01_vendas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463123"/>
            <a:ext cx="5486400" cy="24803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6172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04040"/>
                </a:solidFill>
              </a:defRPr>
            </a:pPr>
            <a:r>
              <a:t>A linha 2 mostra "DATA INVALIDA" — exatamente o caso tratado aqui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RF03 · decisão registrada em DECISOES.md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O que poderia melhorar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2682163" cy="27432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Dados reais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t>Trocar o CSV sintético por um dataset real e mais "sujo".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22243" y="1463040"/>
            <a:ext cx="2682163" cy="27432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Testes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t>Testes automatizados para limpeza e métricas.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7287" y="1463040"/>
            <a:ext cx="2682163" cy="2743200"/>
          </a:xfrm>
          <a:prstGeom prst="round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Bônus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t>Projeção por média móvel, pivot mês × categoria e quartis.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331" y="1463040"/>
            <a:ext cx="2682163" cy="27432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Segmentos</a:t>
            </a:r>
          </a:p>
          <a:p>
            <a:pPr>
              <a:defRPr sz="1300">
                <a:solidFill>
                  <a:srgbClr val="F0F0F0"/>
                </a:solidFill>
              </a:defRPr>
            </a:pPr>
            <a:r>
              <a:t>Rever os limites Bronze/Prata/Ouro: hoje quase todos viram Ouro.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Repositório: github.com/petersongardin/SalesInsight-PY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Kanban: trello.com/b/GrpLE5D8/salesinsight-py-kanban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4E79"/>
                </a:solidFill>
              </a:defRPr>
            </a:pPr>
            <a:r>
              <a:t>Vídeo: [inserir link do Google Drive]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9090"/>
                </a:solidFill>
              </a:defRPr>
            </a:pPr>
            <a: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