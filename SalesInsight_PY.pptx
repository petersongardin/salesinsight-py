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image" Target="../media/image14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103628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SalesInsight 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10896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C9DAEC"/>
                </a:solidFill>
              </a:defRPr>
            </a:pPr>
            <a:r>
              <a:t>Análise e visualização de dados de vendas com Python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9DAEC"/>
                </a:solidFill>
              </a:defRPr>
            </a:pPr>
            <a:r>
              <a:t>Objetivo: transformar um CSV de vendas em respostas para a diretoria — tempo, produtos, regiões, clientes e relação quantidade × receita.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03504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CBADC"/>
                </a:solidFill>
              </a:defRPr>
            </a:pPr>
            <a:r>
              <a:t>Mini-Projeto M1.1 — Análise Preditiva — Módulo 01 — Semana 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4E79"/>
                </a:solidFill>
              </a:defRPr>
            </a:pPr>
            <a:r>
              <a:t>O que instalar para executar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5486400" cy="2377440"/>
          </a:xfrm>
          <a:prstGeom prst="roundRect">
            <a:avLst/>
          </a:prstGeom>
          <a:solidFill>
            <a:srgbClr val="1E1E1E"/>
          </a:solidFill>
          <a:ln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37160" tIns="128016" bIns="128016"/>
          <a:lstStyle/>
          <a:p>
            <a:pPr algn="ctr">
              <a:defRPr sz="1600">
                <a:solidFill>
                  <a:srgbClr val="D4D4D4"/>
                </a:solidFill>
                <a:latin typeface="Consolas"/>
              </a:defRPr>
            </a:pPr>
            <a:r>
              <a:t># Python 3.10 ou superior</a:t>
            </a:r>
          </a:p>
          <a:p>
            <a:pPr>
              <a:defRPr sz="1600">
                <a:solidFill>
                  <a:srgbClr val="D4D4D4"/>
                </a:solidFill>
                <a:latin typeface="Consolas"/>
              </a:defRPr>
            </a:pPr>
            <a:r>
              <a:t>pip install -r requirements.txt</a:t>
            </a:r>
          </a:p>
          <a:p>
            <a:pPr>
              <a:defRPr sz="1600">
                <a:solidFill>
                  <a:srgbClr val="D4D4D4"/>
                </a:solidFill>
                <a:latin typeface="Consolas"/>
              </a:defRPr>
            </a:pPr>
          </a:p>
          <a:p>
            <a:pPr>
              <a:defRPr sz="1600">
                <a:solidFill>
                  <a:srgbClr val="D4D4D4"/>
                </a:solidFill>
                <a:latin typeface="Consolas"/>
              </a:defRPr>
            </a:pPr>
            <a:r>
              <a:t># executar</a:t>
            </a:r>
          </a:p>
          <a:p>
            <a:pPr>
              <a:defRPr sz="1600">
                <a:solidFill>
                  <a:srgbClr val="D4D4D4"/>
                </a:solidFill>
                <a:latin typeface="Consolas"/>
              </a:defRPr>
            </a:pPr>
            <a:r>
              <a:t>python salesinsight.py</a:t>
            </a:r>
          </a:p>
          <a:p>
            <a:pPr>
              <a:defRPr sz="1600">
                <a:solidFill>
                  <a:srgbClr val="D4D4D4"/>
                </a:solidFill>
                <a:latin typeface="Consolas"/>
              </a:defRPr>
            </a:pPr>
          </a:p>
          <a:p>
            <a:pPr>
              <a:defRPr sz="1600">
                <a:solidFill>
                  <a:srgbClr val="D4D4D4"/>
                </a:solidFill>
                <a:latin typeface="Consolas"/>
              </a:defRPr>
            </a:pPr>
            <a:r>
              <a:t># ou no Google Colab (recomendado pela disciplina):</a:t>
            </a:r>
          </a:p>
          <a:p>
            <a:pPr>
              <a:defRPr sz="1600">
                <a:solidFill>
                  <a:srgbClr val="D4D4D4"/>
                </a:solidFill>
                <a:latin typeface="Consolas"/>
              </a:defRPr>
            </a:pPr>
            <a:r>
              <a:t>!pip install -q pandas numpy matplotlib seaborn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749039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04040"/>
                </a:solidFill>
              </a:defRPr>
            </a:pPr>
            <a:r>
              <a:t>Bibliotecas: pandas · numpy · matplotlib · seaborn</a:t>
            </a:r>
            <a:br/>
            <a:r>
              <a:t>O vendas.csv é gerado automaticamente se não existir — não depende de arquivo externo.</a:t>
            </a:r>
            <a:br/>
            <a:r>
              <a:t>Também roda no Google Colab, sem instalação manual (bibliotecas já vêm prontas).</a:t>
            </a:r>
          </a:p>
        </p:txBody>
      </p:sp>
      <p:pic>
        <p:nvPicPr>
          <p:cNvPr id="5" name="Picture 4" descr="github_repo_hom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882833"/>
            <a:ext cx="5486400" cy="336665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17920" y="59893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404040"/>
                </a:solidFill>
              </a:defRPr>
            </a:pPr>
            <a:r>
              <a:t>Repositório público — estrutura real de arquivos no GitHub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09090"/>
                </a:solidFill>
              </a:defRPr>
            </a:pPr>
            <a:r>
              <a:t>github.com/petersongardin/SalesInsight-PY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4E79"/>
                </a:solidFill>
              </a:defRPr>
            </a:pPr>
            <a:r>
              <a:t>RF01 — Criar o dataset de vendas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04040"/>
                </a:solidFill>
              </a:defRPr>
            </a:pPr>
            <a:r>
              <a:t>Dataset sintético gerado por código, com seed fixa (reprodutível) e ~3% de datas inválidas de propósito.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508760"/>
            <a:ext cx="5486400" cy="4480560"/>
          </a:xfrm>
          <a:prstGeom prst="roundRect">
            <a:avLst/>
          </a:prstGeom>
          <a:solidFill>
            <a:srgbClr val="1E1E1E"/>
          </a:solidFill>
          <a:ln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37160" tIns="128016" bIns="128016"/>
          <a:lstStyle/>
          <a:p>
            <a:pPr algn="ctr">
              <a:defRPr sz="1250">
                <a:solidFill>
                  <a:srgbClr val="D4D4D4"/>
                </a:solidFill>
                <a:latin typeface="Consolas"/>
              </a:defRPr>
            </a:pPr>
            <a:r>
              <a:t>def gerar_dataset_vendas(n_registros=200, seed=42):</a:t>
            </a:r>
          </a:p>
          <a:p>
            <a:pPr>
              <a:defRPr sz="1250">
                <a:solidFill>
                  <a:srgbClr val="D4D4D4"/>
                </a:solidFill>
                <a:latin typeface="Consolas"/>
              </a:defRPr>
            </a:pPr>
            <a:r>
              <a:t>    random.seed(seed)</a:t>
            </a:r>
          </a:p>
          <a:p>
            <a:pPr>
              <a:defRPr sz="1250">
                <a:solidFill>
                  <a:srgbClr val="D4D4D4"/>
                </a:solidFill>
                <a:latin typeface="Consolas"/>
              </a:defRPr>
            </a:pPr>
            <a:r>
              <a:t>    np.random.seed(seed)</a:t>
            </a:r>
          </a:p>
          <a:p>
            <a:pPr>
              <a:defRPr sz="1250">
                <a:solidFill>
                  <a:srgbClr val="D4D4D4"/>
                </a:solidFill>
                <a:latin typeface="Consolas"/>
              </a:defRPr>
            </a:pPr>
            <a:r>
              <a:t>    ...</a:t>
            </a:r>
          </a:p>
          <a:p>
            <a:pPr>
              <a:defRPr sz="1250">
                <a:solidFill>
                  <a:srgbClr val="D4D4D4"/>
                </a:solidFill>
                <a:latin typeface="Consolas"/>
              </a:defRPr>
            </a:pPr>
            <a:r>
              <a:t>    for i in range(n_registros):</a:t>
            </a:r>
          </a:p>
          <a:p>
            <a:pPr>
              <a:defRPr sz="1250">
                <a:solidFill>
                  <a:srgbClr val="D4D4D4"/>
                </a:solidFill>
                <a:latin typeface="Consolas"/>
              </a:defRPr>
            </a:pPr>
            <a:r>
              <a:t>        produto = random.choice(produtos)</a:t>
            </a:r>
          </a:p>
          <a:p>
            <a:pPr>
              <a:defRPr sz="1250">
                <a:solidFill>
                  <a:srgbClr val="D4D4D4"/>
                </a:solidFill>
                <a:latin typeface="Consolas"/>
              </a:defRPr>
            </a:pPr>
            <a:r>
              <a:t>        quantidade = random.randint(1, 10)</a:t>
            </a:r>
          </a:p>
          <a:p>
            <a:pPr>
              <a:defRPr sz="1250">
                <a:solidFill>
                  <a:srgbClr val="D4D4D4"/>
                </a:solidFill>
                <a:latin typeface="Consolas"/>
              </a:defRPr>
            </a:pPr>
            <a:r>
              <a:t>        preco = round(precos[produto] *</a:t>
            </a:r>
          </a:p>
          <a:p>
            <a:pPr>
              <a:defRPr sz="1250">
                <a:solidFill>
                  <a:srgbClr val="D4D4D4"/>
                </a:solidFill>
                <a:latin typeface="Consolas"/>
              </a:defRPr>
            </a:pPr>
            <a:r>
              <a:t>                      random.uniform(0.85, 1.15), 2)</a:t>
            </a:r>
          </a:p>
          <a:p>
            <a:pPr>
              <a:defRPr sz="1250">
                <a:solidFill>
                  <a:srgbClr val="D4D4D4"/>
                </a:solidFill>
                <a:latin typeface="Consolas"/>
              </a:defRPr>
            </a:pPr>
            <a:r>
              <a:t>        data_txt = data.strftime("%Y-%m-%d")</a:t>
            </a:r>
          </a:p>
          <a:p>
            <a:pPr>
              <a:defRPr sz="1250">
                <a:solidFill>
                  <a:srgbClr val="D4D4D4"/>
                </a:solidFill>
                <a:latin typeface="Consolas"/>
              </a:defRPr>
            </a:pPr>
            <a:r>
              <a:t>        if random.random() &lt; 0.03:</a:t>
            </a:r>
          </a:p>
          <a:p>
            <a:pPr>
              <a:defRPr sz="1250">
                <a:solidFill>
                  <a:srgbClr val="D4D4D4"/>
                </a:solidFill>
                <a:latin typeface="Consolas"/>
              </a:defRPr>
            </a:pPr>
            <a:r>
              <a:t>            data_txt = "DATA INVALIDA"  # sujeira proposital</a:t>
            </a:r>
          </a:p>
          <a:p>
            <a:pPr>
              <a:defRPr sz="1250">
                <a:solidFill>
                  <a:srgbClr val="D4D4D4"/>
                </a:solidFill>
                <a:latin typeface="Consolas"/>
              </a:defRPr>
            </a:pPr>
            <a:r>
              <a:t>        dados.append({...})</a:t>
            </a:r>
          </a:p>
          <a:p>
            <a:pPr>
              <a:defRPr sz="1250">
                <a:solidFill>
                  <a:srgbClr val="D4D4D4"/>
                </a:solidFill>
                <a:latin typeface="Consolas"/>
              </a:defRPr>
            </a:pPr>
            <a:r>
              <a:t>    return pd.DataFrame(dados)</a:t>
            </a:r>
          </a:p>
          <a:p>
            <a:pPr>
              <a:defRPr sz="1250">
                <a:solidFill>
                  <a:srgbClr val="D4D4D4"/>
                </a:solidFill>
                <a:latin typeface="Consolas"/>
              </a:defRPr>
            </a:pPr>
          </a:p>
          <a:p>
            <a:pPr>
              <a:defRPr sz="1250">
                <a:solidFill>
                  <a:srgbClr val="D4D4D4"/>
                </a:solidFill>
                <a:latin typeface="Consolas"/>
              </a:defRPr>
            </a:pPr>
            <a:r>
              <a:t>df_bruto = gerar_dataset_vendas()</a:t>
            </a:r>
          </a:p>
          <a:p>
            <a:pPr>
              <a:defRPr sz="1250">
                <a:solidFill>
                  <a:srgbClr val="D4D4D4"/>
                </a:solidFill>
                <a:latin typeface="Consolas"/>
              </a:defRPr>
            </a:pPr>
            <a:r>
              <a:t>df_bruto.to_csv("vendas.csv", index=False)</a:t>
            </a:r>
          </a:p>
        </p:txBody>
      </p:sp>
      <p:pic>
        <p:nvPicPr>
          <p:cNvPr id="5" name="Picture 4" descr="rf01_vendas_cs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2502022"/>
            <a:ext cx="5516575" cy="249403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17920" y="6035040"/>
            <a:ext cx="55165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404040"/>
                </a:solidFill>
              </a:defRPr>
            </a:pPr>
            <a:r>
              <a:t>vendas.csv — 200 linhas geradas (print real da planilha)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09090"/>
                </a:solidFill>
              </a:defRPr>
            </a:pPr>
            <a:r>
              <a:t>RF01 · salesinsight.py linhas 28-77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4E79"/>
                </a:solidFill>
              </a:defRPr>
            </a:pPr>
            <a:r>
              <a:t>RF02 — Inspecionar e descrever os dados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04040"/>
                </a:solidFill>
              </a:defRPr>
            </a:pPr>
            <a:r>
              <a:t>Apenas estrutura (shape, tipos, nulos) — isnull() não detecta "DATA INVALIDA" porque é texto preenchido, não célula vazia.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508760"/>
            <a:ext cx="5486400" cy="4480560"/>
          </a:xfrm>
          <a:prstGeom prst="roundRect">
            <a:avLst/>
          </a:prstGeom>
          <a:solidFill>
            <a:srgbClr val="1E1E1E"/>
          </a:solidFill>
          <a:ln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37160" tIns="128016" bIns="128016"/>
          <a:lstStyle/>
          <a:p>
            <a:pPr algn="ctr">
              <a:defRPr sz="1250">
                <a:solidFill>
                  <a:srgbClr val="D4D4D4"/>
                </a:solidFill>
                <a:latin typeface="Consolas"/>
              </a:defRPr>
            </a:pPr>
            <a:r>
              <a:t>def inspecionar_dados(df):</a:t>
            </a:r>
          </a:p>
          <a:p>
            <a:pPr>
              <a:defRPr sz="1250">
                <a:solidFill>
                  <a:srgbClr val="D4D4D4"/>
                </a:solidFill>
                <a:latin typeface="Consolas"/>
              </a:defRPr>
            </a:pPr>
            <a:r>
              <a:t>    print(f"Shape: {df.shape}")</a:t>
            </a:r>
          </a:p>
          <a:p>
            <a:pPr>
              <a:defRPr sz="1250">
                <a:solidFill>
                  <a:srgbClr val="D4D4D4"/>
                </a:solidFill>
                <a:latin typeface="Consolas"/>
              </a:defRPr>
            </a:pPr>
            <a:r>
              <a:t>    print(f"Colunas: {list(df.columns)}")</a:t>
            </a:r>
          </a:p>
          <a:p>
            <a:pPr>
              <a:defRPr sz="1250">
                <a:solidFill>
                  <a:srgbClr val="D4D4D4"/>
                </a:solidFill>
                <a:latin typeface="Consolas"/>
              </a:defRPr>
            </a:pPr>
            <a:r>
              <a:t>    print(f"Tipos:\n{df.dtypes}")</a:t>
            </a:r>
          </a:p>
          <a:p>
            <a:pPr>
              <a:defRPr sz="1250">
                <a:solidFill>
                  <a:srgbClr val="D4D4D4"/>
                </a:solidFill>
                <a:latin typeface="Consolas"/>
              </a:defRPr>
            </a:pPr>
            <a:r>
              <a:t>    print(f"Nulos:\n{df.isnull().sum()}")</a:t>
            </a:r>
          </a:p>
          <a:p>
            <a:pPr>
              <a:defRPr sz="1250">
                <a:solidFill>
                  <a:srgbClr val="D4D4D4"/>
                </a:solidFill>
                <a:latin typeface="Consolas"/>
              </a:defRPr>
            </a:pPr>
            <a:r>
              <a:t>    print(f"Primeiros registros:\n{df.head()}")</a:t>
            </a:r>
          </a:p>
          <a:p>
            <a:pPr>
              <a:defRPr sz="1250">
                <a:solidFill>
                  <a:srgbClr val="D4D4D4"/>
                </a:solidFill>
                <a:latin typeface="Consolas"/>
              </a:defRPr>
            </a:pPr>
            <a:r>
              <a:t>    return df</a:t>
            </a:r>
          </a:p>
          <a:p>
            <a:pPr>
              <a:defRPr sz="1250">
                <a:solidFill>
                  <a:srgbClr val="D4D4D4"/>
                </a:solidFill>
                <a:latin typeface="Consolas"/>
              </a:defRPr>
            </a:pPr>
          </a:p>
          <a:p>
            <a:pPr>
              <a:defRPr sz="1250">
                <a:solidFill>
                  <a:srgbClr val="D4D4D4"/>
                </a:solidFill>
                <a:latin typeface="Consolas"/>
              </a:defRPr>
            </a:pPr>
            <a:r>
              <a:t>inspecionar_dados(df_bruto)</a:t>
            </a:r>
          </a:p>
        </p:txBody>
      </p:sp>
      <p:pic>
        <p:nvPicPr>
          <p:cNvPr id="5" name="Picture 4" descr="rf02_inspeca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5131" y="1508760"/>
            <a:ext cx="4922153" cy="44805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17920" y="6035040"/>
            <a:ext cx="55165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404040"/>
                </a:solidFill>
              </a:defRPr>
            </a:pPr>
            <a:r>
              <a:t>Tipos de cada coluna e contagem de nulos (.dtypes / .isnull().sum())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09090"/>
                </a:solidFill>
              </a:defRPr>
            </a:pPr>
            <a:r>
              <a:t>RF02 · salesinsight.py linhas 83-91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4E79"/>
                </a:solidFill>
              </a:defRPr>
            </a:pPr>
            <a:r>
              <a:t>RF03 — Tratar os dados (datetime)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04040"/>
                </a:solidFill>
              </a:defRPr>
            </a:pPr>
            <a:r>
              <a:t>errors="coerce" converte texto inválido em NaT; dropna remove essas linhas — sem data não há mês/trimestre.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508760"/>
            <a:ext cx="5486400" cy="4480560"/>
          </a:xfrm>
          <a:prstGeom prst="roundRect">
            <a:avLst/>
          </a:prstGeom>
          <a:solidFill>
            <a:srgbClr val="1E1E1E"/>
          </a:solidFill>
          <a:ln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37160" tIns="128016" bIns="128016"/>
          <a:lstStyle/>
          <a:p>
            <a:pPr algn="ctr">
              <a:defRPr sz="1250">
                <a:solidFill>
                  <a:srgbClr val="D4D4D4"/>
                </a:solidFill>
                <a:latin typeface="Consolas"/>
              </a:defRPr>
            </a:pPr>
            <a:r>
              <a:t>def tratar_dados(df):</a:t>
            </a:r>
          </a:p>
          <a:p>
            <a:pPr>
              <a:defRPr sz="1250">
                <a:solidFill>
                  <a:srgbClr val="D4D4D4"/>
                </a:solidFill>
                <a:latin typeface="Consolas"/>
              </a:defRPr>
            </a:pPr>
            <a:r>
              <a:t>    df = df.copy()</a:t>
            </a:r>
          </a:p>
          <a:p>
            <a:pPr>
              <a:defRPr sz="1250">
                <a:solidFill>
                  <a:srgbClr val="D4D4D4"/>
                </a:solidFill>
                <a:latin typeface="Consolas"/>
              </a:defRPr>
            </a:pPr>
            <a:r>
              <a:t>    for c in colunas_texto:</a:t>
            </a:r>
          </a:p>
          <a:p>
            <a:pPr>
              <a:defRPr sz="1250">
                <a:solidFill>
                  <a:srgbClr val="D4D4D4"/>
                </a:solidFill>
                <a:latin typeface="Consolas"/>
              </a:defRPr>
            </a:pPr>
            <a:r>
              <a:t>        df[c] = df[c].astype(str).str.strip()</a:t>
            </a:r>
          </a:p>
          <a:p>
            <a:pPr>
              <a:defRPr sz="1250">
                <a:solidFill>
                  <a:srgbClr val="D4D4D4"/>
                </a:solidFill>
                <a:latin typeface="Consolas"/>
              </a:defRPr>
            </a:pPr>
          </a:p>
          <a:p>
            <a:pPr>
              <a:defRPr sz="1250">
                <a:solidFill>
                  <a:srgbClr val="D4D4D4"/>
                </a:solidFill>
                <a:latin typeface="Consolas"/>
              </a:defRPr>
            </a:pPr>
            <a:r>
              <a:t>    df["data_venda"] = pd.to_datetime(</a:t>
            </a:r>
          </a:p>
          <a:p>
            <a:pPr>
              <a:defRPr sz="1250">
                <a:solidFill>
                  <a:srgbClr val="D4D4D4"/>
                </a:solidFill>
                <a:latin typeface="Consolas"/>
              </a:defRPr>
            </a:pPr>
            <a:r>
              <a:t>        df["data_venda"], errors="coerce")</a:t>
            </a:r>
          </a:p>
          <a:p>
            <a:pPr>
              <a:defRPr sz="1250">
                <a:solidFill>
                  <a:srgbClr val="D4D4D4"/>
                </a:solidFill>
                <a:latin typeface="Consolas"/>
              </a:defRPr>
            </a:pPr>
            <a:r>
              <a:t>    invalidas = df["data_venda"].isnull().sum()</a:t>
            </a:r>
          </a:p>
          <a:p>
            <a:pPr>
              <a:defRPr sz="1250">
                <a:solidFill>
                  <a:srgbClr val="D4D4D4"/>
                </a:solidFill>
                <a:latin typeface="Consolas"/>
              </a:defRPr>
            </a:pPr>
            <a:r>
              <a:t>    df = df.dropna(subset=["data_venda"])</a:t>
            </a:r>
          </a:p>
          <a:p>
            <a:pPr>
              <a:defRPr sz="1250">
                <a:solidFill>
                  <a:srgbClr val="D4D4D4"/>
                </a:solidFill>
                <a:latin typeface="Consolas"/>
              </a:defRPr>
            </a:pPr>
          </a:p>
          <a:p>
            <a:pPr>
              <a:defRPr sz="1250">
                <a:solidFill>
                  <a:srgbClr val="D4D4D4"/>
                </a:solidFill>
                <a:latin typeface="Consolas"/>
              </a:defRPr>
            </a:pPr>
            <a:r>
              <a:t>    df["quantidade"] = df["quantidade"].astype(int)</a:t>
            </a:r>
          </a:p>
          <a:p>
            <a:pPr>
              <a:defRPr sz="1250">
                <a:solidFill>
                  <a:srgbClr val="D4D4D4"/>
                </a:solidFill>
                <a:latin typeface="Consolas"/>
              </a:defRPr>
            </a:pPr>
            <a:r>
              <a:t>    df["preco_unitario"] = df["preco_unitario"]</a:t>
            </a:r>
          </a:p>
          <a:p>
            <a:pPr>
              <a:defRPr sz="1250">
                <a:solidFill>
                  <a:srgbClr val="D4D4D4"/>
                </a:solidFill>
                <a:latin typeface="Consolas"/>
              </a:defRPr>
            </a:pPr>
            <a:r>
              <a:t>                              .astype(float)</a:t>
            </a:r>
          </a:p>
          <a:p>
            <a:pPr>
              <a:defRPr sz="1250">
                <a:solidFill>
                  <a:srgbClr val="D4D4D4"/>
                </a:solidFill>
                <a:latin typeface="Consolas"/>
              </a:defRPr>
            </a:pPr>
            <a:r>
              <a:t>    return df.reset_index(drop=True), relatorio</a:t>
            </a:r>
          </a:p>
        </p:txBody>
      </p:sp>
      <p:pic>
        <p:nvPicPr>
          <p:cNvPr id="5" name="Picture 4" descr="rf03_relatorio_limpez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2299770"/>
            <a:ext cx="5516575" cy="289853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17920" y="6035040"/>
            <a:ext cx="55165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404040"/>
                </a:solidFill>
              </a:defRPr>
            </a:pPr>
            <a:r>
              <a:t>Relatório de limpeza real: 200 → 194 registros (6 removidos, 3%)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09090"/>
                </a:solidFill>
              </a:defRPr>
            </a:pPr>
            <a:r>
              <a:t>RF03 · salesinsight.py linhas 97-138 — decisão: remover, não imputar (fora do escopo do módulo)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4E79"/>
                </a:solidFill>
              </a:defRPr>
            </a:pPr>
            <a:r>
              <a:t>RF04 — Colunas derivadas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04040"/>
                </a:solidFill>
              </a:defRPr>
            </a:pPr>
            <a:r>
              <a:t>receita_total vetorizada; np.select é um if/elif/else que roda na coluna inteira, sem loop manual.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508760"/>
            <a:ext cx="5486400" cy="4480560"/>
          </a:xfrm>
          <a:prstGeom prst="roundRect">
            <a:avLst/>
          </a:prstGeom>
          <a:solidFill>
            <a:srgbClr val="1E1E1E"/>
          </a:solidFill>
          <a:ln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37160" tIns="128016" bIns="128016"/>
          <a:lstStyle/>
          <a:p>
            <a:pPr algn="ctr">
              <a:defRPr sz="1250">
                <a:solidFill>
                  <a:srgbClr val="D4D4D4"/>
                </a:solidFill>
                <a:latin typeface="Consolas"/>
              </a:defRPr>
            </a:pPr>
            <a:r>
              <a:t>df["receita_total"] = (df["quantidade"]</a:t>
            </a:r>
          </a:p>
          <a:p>
            <a:pPr>
              <a:defRPr sz="1250">
                <a:solidFill>
                  <a:srgbClr val="D4D4D4"/>
                </a:solidFill>
                <a:latin typeface="Consolas"/>
              </a:defRPr>
            </a:pPr>
            <a:r>
              <a:t>                        * df["preco_unitario"])</a:t>
            </a:r>
          </a:p>
          <a:p>
            <a:pPr>
              <a:defRPr sz="1250">
                <a:solidFill>
                  <a:srgbClr val="D4D4D4"/>
                </a:solidFill>
                <a:latin typeface="Consolas"/>
              </a:defRPr>
            </a:pPr>
            <a:r>
              <a:t>df["mes"] = df["data_venda"].dt.month</a:t>
            </a:r>
          </a:p>
          <a:p>
            <a:pPr>
              <a:defRPr sz="1250">
                <a:solidFill>
                  <a:srgbClr val="D4D4D4"/>
                </a:solidFill>
                <a:latin typeface="Consolas"/>
              </a:defRPr>
            </a:pPr>
            <a:r>
              <a:t>df["mes_nome"] = df["mes"].map(MESES_PT)</a:t>
            </a:r>
          </a:p>
          <a:p>
            <a:pPr>
              <a:defRPr sz="1250">
                <a:solidFill>
                  <a:srgbClr val="D4D4D4"/>
                </a:solidFill>
                <a:latin typeface="Consolas"/>
              </a:defRPr>
            </a:pPr>
            <a:r>
              <a:t>df["trimestre"] = ("Q" +</a:t>
            </a:r>
          </a:p>
          <a:p>
            <a:pPr>
              <a:defRPr sz="1250">
                <a:solidFill>
                  <a:srgbClr val="D4D4D4"/>
                </a:solidFill>
                <a:latin typeface="Consolas"/>
              </a:defRPr>
            </a:pPr>
            <a:r>
              <a:t>    df["data_venda"].dt.quarter.astype(str))</a:t>
            </a:r>
          </a:p>
          <a:p>
            <a:pPr>
              <a:defRPr sz="1250">
                <a:solidFill>
                  <a:srgbClr val="D4D4D4"/>
                </a:solidFill>
                <a:latin typeface="Consolas"/>
              </a:defRPr>
            </a:pPr>
          </a:p>
          <a:p>
            <a:pPr>
              <a:defRPr sz="1250">
                <a:solidFill>
                  <a:srgbClr val="D4D4D4"/>
                </a:solidFill>
                <a:latin typeface="Consolas"/>
              </a:defRPr>
            </a:pPr>
            <a:r>
              <a:t>condicoes = [</a:t>
            </a:r>
          </a:p>
          <a:p>
            <a:pPr>
              <a:defRPr sz="1250">
                <a:solidFill>
                  <a:srgbClr val="D4D4D4"/>
                </a:solidFill>
                <a:latin typeface="Consolas"/>
              </a:defRPr>
            </a:pPr>
            <a:r>
              <a:t>    df["receita_total"] &lt; 500,</a:t>
            </a:r>
          </a:p>
          <a:p>
            <a:pPr>
              <a:defRPr sz="1250">
                <a:solidFill>
                  <a:srgbClr val="D4D4D4"/>
                </a:solidFill>
                <a:latin typeface="Consolas"/>
              </a:defRPr>
            </a:pPr>
            <a:r>
              <a:t>    (df["receita_total"] &gt;= 500) &amp;</a:t>
            </a:r>
          </a:p>
          <a:p>
            <a:pPr>
              <a:defRPr sz="1250">
                <a:solidFill>
                  <a:srgbClr val="D4D4D4"/>
                </a:solidFill>
                <a:latin typeface="Consolas"/>
              </a:defRPr>
            </a:pPr>
            <a:r>
              <a:t>        (df["receita_total"] &lt; 5000),</a:t>
            </a:r>
          </a:p>
          <a:p>
            <a:pPr>
              <a:defRPr sz="1250">
                <a:solidFill>
                  <a:srgbClr val="D4D4D4"/>
                </a:solidFill>
                <a:latin typeface="Consolas"/>
              </a:defRPr>
            </a:pPr>
            <a:r>
              <a:t>    df["receita_total"] &gt;= 5000,</a:t>
            </a:r>
          </a:p>
          <a:p>
            <a:pPr>
              <a:defRPr sz="1250">
                <a:solidFill>
                  <a:srgbClr val="D4D4D4"/>
                </a:solidFill>
                <a:latin typeface="Consolas"/>
              </a:defRPr>
            </a:pPr>
            <a:r>
              <a:t>]</a:t>
            </a:r>
          </a:p>
          <a:p>
            <a:pPr>
              <a:defRPr sz="1250">
                <a:solidFill>
                  <a:srgbClr val="D4D4D4"/>
                </a:solidFill>
                <a:latin typeface="Consolas"/>
              </a:defRPr>
            </a:pPr>
            <a:r>
              <a:t>faixas = ["Baixo Valor", "Medio Valor", "Alto Valor"]</a:t>
            </a:r>
          </a:p>
          <a:p>
            <a:pPr>
              <a:defRPr sz="1250">
                <a:solidFill>
                  <a:srgbClr val="D4D4D4"/>
                </a:solidFill>
                <a:latin typeface="Consolas"/>
              </a:defRPr>
            </a:pPr>
            <a:r>
              <a:t>df["faixa_receita_item"] = np.select(</a:t>
            </a:r>
          </a:p>
          <a:p>
            <a:pPr>
              <a:defRPr sz="1250">
                <a:solidFill>
                  <a:srgbClr val="D4D4D4"/>
                </a:solidFill>
                <a:latin typeface="Consolas"/>
              </a:defRPr>
            </a:pPr>
            <a:r>
              <a:t>    condicoes, faixas, default="Nao Classificado")</a:t>
            </a:r>
          </a:p>
        </p:txBody>
      </p:sp>
      <p:pic>
        <p:nvPicPr>
          <p:cNvPr id="5" name="Picture 4" descr="rf04_colunas_derivad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2872375"/>
            <a:ext cx="5516575" cy="175333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17920" y="6035040"/>
            <a:ext cx="55165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404040"/>
                </a:solidFill>
              </a:defRPr>
            </a:pPr>
            <a:r>
              <a:t>Colunas calculadas — amostra real do DataFrame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09090"/>
                </a:solidFill>
              </a:defRPr>
            </a:pPr>
            <a:r>
              <a:t>RF04 · salesinsight.py linhas 144-161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4E79"/>
                </a:solidFill>
              </a:defRPr>
            </a:pPr>
            <a:r>
              <a:t>RF05 — Métricas agregadas (groupby)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04040"/>
                </a:solidFill>
              </a:defRPr>
            </a:pPr>
            <a:r>
              <a:t>groupby + agg com nomes explícitos; sum() soma valores, count() conta linhas — diferença que aparece nos resultados.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508760"/>
            <a:ext cx="5486400" cy="4480560"/>
          </a:xfrm>
          <a:prstGeom prst="roundRect">
            <a:avLst/>
          </a:prstGeom>
          <a:solidFill>
            <a:srgbClr val="1E1E1E"/>
          </a:solidFill>
          <a:ln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37160" tIns="128016" bIns="128016"/>
          <a:lstStyle/>
          <a:p>
            <a:pPr algn="ctr">
              <a:defRPr sz="1250">
                <a:solidFill>
                  <a:srgbClr val="D4D4D4"/>
                </a:solidFill>
                <a:latin typeface="Consolas"/>
              </a:defRPr>
            </a:pPr>
            <a:r>
              <a:t>metricas["por_mes"] = (</a:t>
            </a:r>
          </a:p>
          <a:p>
            <a:pPr>
              <a:defRPr sz="1250">
                <a:solidFill>
                  <a:srgbClr val="D4D4D4"/>
                </a:solidFill>
                <a:latin typeface="Consolas"/>
              </a:defRPr>
            </a:pPr>
            <a:r>
              <a:t>    df.groupby("mes")</a:t>
            </a:r>
          </a:p>
          <a:p>
            <a:pPr>
              <a:defRPr sz="1250">
                <a:solidFill>
                  <a:srgbClr val="D4D4D4"/>
                </a:solidFill>
                <a:latin typeface="Consolas"/>
              </a:defRPr>
            </a:pPr>
            <a:r>
              <a:t>    .agg(receita_total=("receita_total", "sum"),</a:t>
            </a:r>
          </a:p>
          <a:p>
            <a:pPr>
              <a:defRPr sz="1250">
                <a:solidFill>
                  <a:srgbClr val="D4D4D4"/>
                </a:solidFill>
                <a:latin typeface="Consolas"/>
              </a:defRPr>
            </a:pPr>
            <a:r>
              <a:t>         quantidade=("quantidade", "sum"),</a:t>
            </a:r>
          </a:p>
          <a:p>
            <a:pPr>
              <a:defRPr sz="1250">
                <a:solidFill>
                  <a:srgbClr val="D4D4D4"/>
                </a:solidFill>
                <a:latin typeface="Consolas"/>
              </a:defRPr>
            </a:pPr>
            <a:r>
              <a:t>         n_vendas=("id_venda", "count"))</a:t>
            </a:r>
          </a:p>
          <a:p>
            <a:pPr>
              <a:defRPr sz="1250">
                <a:solidFill>
                  <a:srgbClr val="D4D4D4"/>
                </a:solidFill>
                <a:latin typeface="Consolas"/>
              </a:defRPr>
            </a:pPr>
            <a:r>
              <a:t>    .reset_index())</a:t>
            </a:r>
          </a:p>
          <a:p>
            <a:pPr>
              <a:defRPr sz="1250">
                <a:solidFill>
                  <a:srgbClr val="D4D4D4"/>
                </a:solidFill>
                <a:latin typeface="Consolas"/>
              </a:defRPr>
            </a:pPr>
          </a:p>
          <a:p>
            <a:pPr>
              <a:defRPr sz="1250">
                <a:solidFill>
                  <a:srgbClr val="D4D4D4"/>
                </a:solidFill>
                <a:latin typeface="Consolas"/>
              </a:defRPr>
            </a:pPr>
            <a:r>
              <a:t>metricas["top_produtos"] = (</a:t>
            </a:r>
          </a:p>
          <a:p>
            <a:pPr>
              <a:defRPr sz="1250">
                <a:solidFill>
                  <a:srgbClr val="D4D4D4"/>
                </a:solidFill>
                <a:latin typeface="Consolas"/>
              </a:defRPr>
            </a:pPr>
            <a:r>
              <a:t>    df.groupby("produto")["receita_total"].sum()</a:t>
            </a:r>
          </a:p>
          <a:p>
            <a:pPr>
              <a:defRPr sz="1250">
                <a:solidFill>
                  <a:srgbClr val="D4D4D4"/>
                </a:solidFill>
                <a:latin typeface="Consolas"/>
              </a:defRPr>
            </a:pPr>
            <a:r>
              <a:t>    .sort_values(ascending=False)</a:t>
            </a:r>
          </a:p>
          <a:p>
            <a:pPr>
              <a:defRPr sz="1250">
                <a:solidFill>
                  <a:srgbClr val="D4D4D4"/>
                </a:solidFill>
                <a:latin typeface="Consolas"/>
              </a:defRPr>
            </a:pPr>
            <a:r>
              <a:t>    .head(5).reset_index())</a:t>
            </a:r>
          </a:p>
          <a:p>
            <a:pPr>
              <a:defRPr sz="1250">
                <a:solidFill>
                  <a:srgbClr val="D4D4D4"/>
                </a:solidFill>
                <a:latin typeface="Consolas"/>
              </a:defRPr>
            </a:pPr>
          </a:p>
          <a:p>
            <a:pPr>
              <a:defRPr sz="1250">
                <a:solidFill>
                  <a:srgbClr val="D4D4D4"/>
                </a:solidFill>
                <a:latin typeface="Consolas"/>
              </a:defRPr>
            </a:pPr>
            <a:r>
              <a:t>metricas["por_regiao"] = (</a:t>
            </a:r>
          </a:p>
          <a:p>
            <a:pPr>
              <a:defRPr sz="1250">
                <a:solidFill>
                  <a:srgbClr val="D4D4D4"/>
                </a:solidFill>
                <a:latin typeface="Consolas"/>
              </a:defRPr>
            </a:pPr>
            <a:r>
              <a:t>    df.groupby("regiao")</a:t>
            </a:r>
          </a:p>
          <a:p>
            <a:pPr>
              <a:defRPr sz="1250">
                <a:solidFill>
                  <a:srgbClr val="D4D4D4"/>
                </a:solidFill>
                <a:latin typeface="Consolas"/>
              </a:defRPr>
            </a:pPr>
            <a:r>
              <a:t>    .agg(receita_total=("receita_total", "sum"),</a:t>
            </a:r>
          </a:p>
          <a:p>
            <a:pPr>
              <a:defRPr sz="1250">
                <a:solidFill>
                  <a:srgbClr val="D4D4D4"/>
                </a:solidFill>
                <a:latin typeface="Consolas"/>
              </a:defRPr>
            </a:pPr>
            <a:r>
              <a:t>         ticket_medio=("receita_total", "mean"))</a:t>
            </a:r>
          </a:p>
          <a:p>
            <a:pPr>
              <a:defRPr sz="1250">
                <a:solidFill>
                  <a:srgbClr val="D4D4D4"/>
                </a:solidFill>
                <a:latin typeface="Consolas"/>
              </a:defRPr>
            </a:pPr>
            <a:r>
              <a:t>    ...)</a:t>
            </a:r>
          </a:p>
        </p:txBody>
      </p:sp>
      <p:pic>
        <p:nvPicPr>
          <p:cNvPr id="5" name="Picture 4" descr="rf05_metricas_por_m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755450"/>
            <a:ext cx="5516574" cy="398717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17920" y="6035040"/>
            <a:ext cx="55165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404040"/>
                </a:solidFill>
              </a:defRPr>
            </a:pPr>
            <a:r>
              <a:t>Receita, quantidade e nº de vendas por mês — resultado real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09090"/>
                </a:solidFill>
              </a:defRPr>
            </a:pPr>
            <a:r>
              <a:t>RF05 · salesinsight.py linhas 177-211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4E79"/>
                </a:solidFill>
              </a:defRPr>
            </a:pPr>
            <a:r>
              <a:t>RF06 — Segmentar clientes por gasto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04040"/>
                </a:solidFill>
              </a:defRPr>
            </a:pPr>
            <a:r>
              <a:t>Bronze &lt; R$ 5.000 · Prata até R$ 15.000 · Ouro &gt; R$ 15.000 (limites do enunciado) — classificação via .apply(lambda).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508760"/>
            <a:ext cx="5486400" cy="4480560"/>
          </a:xfrm>
          <a:prstGeom prst="roundRect">
            <a:avLst/>
          </a:prstGeom>
          <a:solidFill>
            <a:srgbClr val="1E1E1E"/>
          </a:solidFill>
          <a:ln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37160" tIns="128016" bIns="128016"/>
          <a:lstStyle/>
          <a:p>
            <a:pPr algn="ctr">
              <a:defRPr sz="1250">
                <a:solidFill>
                  <a:srgbClr val="D4D4D4"/>
                </a:solidFill>
                <a:latin typeface="Consolas"/>
              </a:defRPr>
            </a:pPr>
            <a:r>
              <a:t>clientes = (</a:t>
            </a:r>
          </a:p>
          <a:p>
            <a:pPr>
              <a:defRPr sz="1250">
                <a:solidFill>
                  <a:srgbClr val="D4D4D4"/>
                </a:solidFill>
                <a:latin typeface="Consolas"/>
              </a:defRPr>
            </a:pPr>
            <a:r>
              <a:t>    df.groupby("cliente")["receita_total"].sum()</a:t>
            </a:r>
          </a:p>
          <a:p>
            <a:pPr>
              <a:defRPr sz="1250">
                <a:solidFill>
                  <a:srgbClr val="D4D4D4"/>
                </a:solidFill>
                <a:latin typeface="Consolas"/>
              </a:defRPr>
            </a:pPr>
            <a:r>
              <a:t>    .reset_index(name="total_gasto"))</a:t>
            </a:r>
          </a:p>
          <a:p>
            <a:pPr>
              <a:defRPr sz="1250">
                <a:solidFill>
                  <a:srgbClr val="D4D4D4"/>
                </a:solidFill>
                <a:latin typeface="Consolas"/>
              </a:defRPr>
            </a:pPr>
          </a:p>
          <a:p>
            <a:pPr>
              <a:defRPr sz="1250">
                <a:solidFill>
                  <a:srgbClr val="D4D4D4"/>
                </a:solidFill>
                <a:latin typeface="Consolas"/>
              </a:defRPr>
            </a:pPr>
            <a:r>
              <a:t># lambda: regra de segmento, aplicada linha a linha</a:t>
            </a:r>
          </a:p>
          <a:p>
            <a:pPr>
              <a:defRPr sz="1250">
                <a:solidFill>
                  <a:srgbClr val="D4D4D4"/>
                </a:solidFill>
                <a:latin typeface="Consolas"/>
              </a:defRPr>
            </a:pPr>
            <a:r>
              <a:t>clientes["segmento"] = clientes["total_gasto"].apply(</a:t>
            </a:r>
          </a:p>
          <a:p>
            <a:pPr>
              <a:defRPr sz="1250">
                <a:solidFill>
                  <a:srgbClr val="D4D4D4"/>
                </a:solidFill>
                <a:latin typeface="Consolas"/>
              </a:defRPr>
            </a:pPr>
            <a:r>
              <a:t>    lambda v: "Bronze" if v &lt; 5000</a:t>
            </a:r>
          </a:p>
          <a:p>
            <a:pPr>
              <a:defRPr sz="1250">
                <a:solidFill>
                  <a:srgbClr val="D4D4D4"/>
                </a:solidFill>
                <a:latin typeface="Consolas"/>
              </a:defRPr>
            </a:pPr>
            <a:r>
              <a:t>              else ("Prata" if v &lt;= 15000</a:t>
            </a:r>
          </a:p>
          <a:p>
            <a:pPr>
              <a:defRPr sz="1250">
                <a:solidFill>
                  <a:srgbClr val="D4D4D4"/>
                </a:solidFill>
                <a:latin typeface="Consolas"/>
              </a:defRPr>
            </a:pPr>
            <a:r>
              <a:t>              else "Ouro"))</a:t>
            </a:r>
          </a:p>
          <a:p>
            <a:pPr>
              <a:defRPr sz="1250">
                <a:solidFill>
                  <a:srgbClr val="D4D4D4"/>
                </a:solidFill>
                <a:latin typeface="Consolas"/>
              </a:defRPr>
            </a:pPr>
          </a:p>
          <a:p>
            <a:pPr>
              <a:defRPr sz="1250">
                <a:solidFill>
                  <a:srgbClr val="D4D4D4"/>
                </a:solidFill>
                <a:latin typeface="Consolas"/>
              </a:defRPr>
            </a:pPr>
            <a:r>
              <a:t>clientes = clientes.sort_values(</a:t>
            </a:r>
          </a:p>
          <a:p>
            <a:pPr>
              <a:defRPr sz="1250">
                <a:solidFill>
                  <a:srgbClr val="D4D4D4"/>
                </a:solidFill>
                <a:latin typeface="Consolas"/>
              </a:defRPr>
            </a:pPr>
            <a:r>
              <a:t>    "total_gasto", ascending=False)</a:t>
            </a:r>
          </a:p>
        </p:txBody>
      </p:sp>
      <p:pic>
        <p:nvPicPr>
          <p:cNvPr id="5" name="Picture 4" descr="rf06_top_clien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950157"/>
            <a:ext cx="5516575" cy="359776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17920" y="6035040"/>
            <a:ext cx="55165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404040"/>
                </a:solidFill>
              </a:defRPr>
            </a:pPr>
            <a:r>
              <a:t>Top 10 clientes por gasto total — resultado real (35/49 em Ouro)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09090"/>
                </a:solidFill>
              </a:defRPr>
            </a:pPr>
            <a:r>
              <a:t>RF06 · salesinsight.py linhas 217-231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4E79"/>
                </a:solidFill>
              </a:defRPr>
            </a:pPr>
            <a:r>
              <a:t>RF07.1 — Receita por mês (linha)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04040"/>
                </a:solidFill>
              </a:defRPr>
            </a:pPr>
            <a:r>
              <a:t>Série temporal — linha é o tipo certo para mostrar tendência ao longo do tempo.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508760"/>
            <a:ext cx="5486400" cy="4480560"/>
          </a:xfrm>
          <a:prstGeom prst="roundRect">
            <a:avLst/>
          </a:prstGeom>
          <a:solidFill>
            <a:srgbClr val="1E1E1E"/>
          </a:solidFill>
          <a:ln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37160" tIns="128016" bIns="128016"/>
          <a:lstStyle/>
          <a:p>
            <a:pPr algn="ctr">
              <a:defRPr sz="1250">
                <a:solidFill>
                  <a:srgbClr val="D4D4D4"/>
                </a:solidFill>
                <a:latin typeface="Consolas"/>
              </a:defRPr>
            </a:pPr>
            <a:r>
              <a:t>fig, ax = plt.subplots(figsize=(12, 6))</a:t>
            </a:r>
          </a:p>
          <a:p>
            <a:pPr>
              <a:defRPr sz="1250">
                <a:solidFill>
                  <a:srgbClr val="D4D4D4"/>
                </a:solidFill>
                <a:latin typeface="Consolas"/>
              </a:defRPr>
            </a:pPr>
            <a:r>
              <a:t>ax.plot(por_mes["mes"], por_mes["receita_total"],</a:t>
            </a:r>
          </a:p>
          <a:p>
            <a:pPr>
              <a:defRPr sz="1250">
                <a:solidFill>
                  <a:srgbClr val="D4D4D4"/>
                </a:solidFill>
                <a:latin typeface="Consolas"/>
              </a:defRPr>
            </a:pPr>
            <a:r>
              <a:t>        marker="o", linewidth=2,</a:t>
            </a:r>
          </a:p>
          <a:p>
            <a:pPr>
              <a:defRPr sz="1250">
                <a:solidFill>
                  <a:srgbClr val="D4D4D4"/>
                </a:solidFill>
                <a:latin typeface="Consolas"/>
              </a:defRPr>
            </a:pPr>
            <a:r>
              <a:t>        color=COR_PRINCIPAL, label="Receita total")</a:t>
            </a:r>
          </a:p>
          <a:p>
            <a:pPr>
              <a:defRPr sz="1250">
                <a:solidFill>
                  <a:srgbClr val="D4D4D4"/>
                </a:solidFill>
                <a:latin typeface="Consolas"/>
              </a:defRPr>
            </a:pPr>
            <a:r>
              <a:t>ax.set_title("Receita Total por Mes")</a:t>
            </a:r>
          </a:p>
          <a:p>
            <a:pPr>
              <a:defRPr sz="1250">
                <a:solidFill>
                  <a:srgbClr val="D4D4D4"/>
                </a:solidFill>
                <a:latin typeface="Consolas"/>
              </a:defRPr>
            </a:pPr>
            <a:r>
              <a:t>ax.set_xlabel("Mes")</a:t>
            </a:r>
          </a:p>
          <a:p>
            <a:pPr>
              <a:defRPr sz="1250">
                <a:solidFill>
                  <a:srgbClr val="D4D4D4"/>
                </a:solidFill>
                <a:latin typeface="Consolas"/>
              </a:defRPr>
            </a:pPr>
            <a:r>
              <a:t>ax.set_ylabel("Receita Total (R$)")</a:t>
            </a:r>
          </a:p>
          <a:p>
            <a:pPr>
              <a:defRPr sz="1250">
                <a:solidFill>
                  <a:srgbClr val="D4D4D4"/>
                </a:solidFill>
                <a:latin typeface="Consolas"/>
              </a:defRPr>
            </a:pPr>
            <a:r>
              <a:t>ax.legend()</a:t>
            </a:r>
          </a:p>
          <a:p>
            <a:pPr>
              <a:defRPr sz="1250">
                <a:solidFill>
                  <a:srgbClr val="D4D4D4"/>
                </a:solidFill>
                <a:latin typeface="Consolas"/>
              </a:defRPr>
            </a:pPr>
            <a:r>
              <a:t>fig.savefig("receita_por_mes.png", dpi=150)</a:t>
            </a:r>
          </a:p>
        </p:txBody>
      </p:sp>
      <p:pic>
        <p:nvPicPr>
          <p:cNvPr id="5" name="Picture 4" descr="receita_por_m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2369896"/>
            <a:ext cx="5516575" cy="275828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17920" y="6035040"/>
            <a:ext cx="55165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404040"/>
                </a:solidFill>
              </a:defRPr>
            </a:pPr>
            <a:r>
              <a:t>receita_por_mes.png — gerado por este código, imagem real do projeto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09090"/>
                </a:solidFill>
              </a:defRPr>
            </a:pPr>
            <a:r>
              <a:t>RF07 · salesinsight.py linhas 257-328 — título, eixos, legenda, paleta e dpi=150 em todos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4E79"/>
                </a:solidFill>
              </a:defRPr>
            </a:pPr>
            <a:r>
              <a:t>RF07.2 — Top 5 produtos (barras)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04040"/>
                </a:solidFill>
              </a:defRPr>
            </a:pPr>
            <a:r>
              <a:t>Comparação entre categorias sem ordem temporal — barra horizontal, nomes mais legíveis na lateral.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508760"/>
            <a:ext cx="5486400" cy="4480560"/>
          </a:xfrm>
          <a:prstGeom prst="roundRect">
            <a:avLst/>
          </a:prstGeom>
          <a:solidFill>
            <a:srgbClr val="1E1E1E"/>
          </a:solidFill>
          <a:ln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37160" tIns="128016" bIns="128016"/>
          <a:lstStyle/>
          <a:p>
            <a:pPr algn="ctr">
              <a:defRPr sz="1250">
                <a:solidFill>
                  <a:srgbClr val="D4D4D4"/>
                </a:solidFill>
                <a:latin typeface="Consolas"/>
              </a:defRPr>
            </a:pPr>
            <a:r>
              <a:t>fig, ax = plt.subplots(figsize=(10, 6))</a:t>
            </a:r>
          </a:p>
          <a:p>
            <a:pPr>
              <a:defRPr sz="1250">
                <a:solidFill>
                  <a:srgbClr val="D4D4D4"/>
                </a:solidFill>
                <a:latin typeface="Consolas"/>
              </a:defRPr>
            </a:pPr>
            <a:r>
              <a:t>sns.barplot(data=top_produtos,</a:t>
            </a:r>
          </a:p>
          <a:p>
            <a:pPr>
              <a:defRPr sz="1250">
                <a:solidFill>
                  <a:srgbClr val="D4D4D4"/>
                </a:solidFill>
                <a:latin typeface="Consolas"/>
              </a:defRPr>
            </a:pPr>
            <a:r>
              <a:t>            y="produto", x="receita_total",</a:t>
            </a:r>
          </a:p>
          <a:p>
            <a:pPr>
              <a:defRPr sz="1250">
                <a:solidFill>
                  <a:srgbClr val="D4D4D4"/>
                </a:solidFill>
                <a:latin typeface="Consolas"/>
              </a:defRPr>
            </a:pPr>
            <a:r>
              <a:t>            hue="produto", legend=False,</a:t>
            </a:r>
          </a:p>
          <a:p>
            <a:pPr>
              <a:defRPr sz="1250">
                <a:solidFill>
                  <a:srgbClr val="D4D4D4"/>
                </a:solidFill>
                <a:latin typeface="Consolas"/>
              </a:defRPr>
            </a:pPr>
            <a:r>
              <a:t>            palette="Blues_r", ax=ax)</a:t>
            </a:r>
          </a:p>
          <a:p>
            <a:pPr>
              <a:defRPr sz="1250">
                <a:solidFill>
                  <a:srgbClr val="D4D4D4"/>
                </a:solidFill>
                <a:latin typeface="Consolas"/>
              </a:defRPr>
            </a:pPr>
            <a:r>
              <a:t>ax.set_title("Top 5 Produtos por Receita")</a:t>
            </a:r>
          </a:p>
          <a:p>
            <a:pPr>
              <a:defRPr sz="1250">
                <a:solidFill>
                  <a:srgbClr val="D4D4D4"/>
                </a:solidFill>
                <a:latin typeface="Consolas"/>
              </a:defRPr>
            </a:pPr>
            <a:r>
              <a:t>fig.savefig("top_produtos.png", dpi=150)</a:t>
            </a:r>
          </a:p>
        </p:txBody>
      </p:sp>
      <p:pic>
        <p:nvPicPr>
          <p:cNvPr id="5" name="Picture 4" descr="top_produt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2094067"/>
            <a:ext cx="5516575" cy="330994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17920" y="6035040"/>
            <a:ext cx="55165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404040"/>
                </a:solidFill>
              </a:defRPr>
            </a:pPr>
            <a:r>
              <a:t>top_produtos.png — gerado por este código, imagem real do projeto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09090"/>
                </a:solidFill>
              </a:defRPr>
            </a:pPr>
            <a:r>
              <a:t>RF07 · salesinsight.py linhas 257-328 — título, eixos, legenda, paleta e dpi=150 em todos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4E79"/>
                </a:solidFill>
              </a:defRPr>
            </a:pPr>
            <a:r>
              <a:t>RF07.3 — Quantidade × Receita (dispersão)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04040"/>
                </a:solidFill>
              </a:defRPr>
            </a:pPr>
            <a:r>
              <a:t>Relação entre duas variáveis numéricas por transação — dispersão é o gráfico certo para correlação.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508760"/>
            <a:ext cx="5486400" cy="4480560"/>
          </a:xfrm>
          <a:prstGeom prst="roundRect">
            <a:avLst/>
          </a:prstGeom>
          <a:solidFill>
            <a:srgbClr val="1E1E1E"/>
          </a:solidFill>
          <a:ln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37160" tIns="128016" bIns="128016"/>
          <a:lstStyle/>
          <a:p>
            <a:pPr algn="ctr">
              <a:defRPr sz="1250">
                <a:solidFill>
                  <a:srgbClr val="D4D4D4"/>
                </a:solidFill>
                <a:latin typeface="Consolas"/>
              </a:defRPr>
            </a:pPr>
            <a:r>
              <a:t>fig, ax = plt.subplots(figsize=(10, 6))</a:t>
            </a:r>
          </a:p>
          <a:p>
            <a:pPr>
              <a:defRPr sz="1250">
                <a:solidFill>
                  <a:srgbClr val="D4D4D4"/>
                </a:solidFill>
                <a:latin typeface="Consolas"/>
              </a:defRPr>
            </a:pPr>
            <a:r>
              <a:t>sns.scatterplot(data=df, x="quantidade",</a:t>
            </a:r>
          </a:p>
          <a:p>
            <a:pPr>
              <a:defRPr sz="1250">
                <a:solidFill>
                  <a:srgbClr val="D4D4D4"/>
                </a:solidFill>
                <a:latin typeface="Consolas"/>
              </a:defRPr>
            </a:pPr>
            <a:r>
              <a:t>                y="receita_total",</a:t>
            </a:r>
          </a:p>
          <a:p>
            <a:pPr>
              <a:defRPr sz="1250">
                <a:solidFill>
                  <a:srgbClr val="D4D4D4"/>
                </a:solidFill>
                <a:latin typeface="Consolas"/>
              </a:defRPr>
            </a:pPr>
            <a:r>
              <a:t>                hue="categoria",</a:t>
            </a:r>
          </a:p>
          <a:p>
            <a:pPr>
              <a:defRPr sz="1250">
                <a:solidFill>
                  <a:srgbClr val="D4D4D4"/>
                </a:solidFill>
                <a:latin typeface="Consolas"/>
              </a:defRPr>
            </a:pPr>
            <a:r>
              <a:t>                palette=CORES_CATEGORIA,</a:t>
            </a:r>
          </a:p>
          <a:p>
            <a:pPr>
              <a:defRPr sz="1250">
                <a:solidFill>
                  <a:srgbClr val="D4D4D4"/>
                </a:solidFill>
                <a:latin typeface="Consolas"/>
              </a:defRPr>
            </a:pPr>
            <a:r>
              <a:t>                s=70, ax=ax)</a:t>
            </a:r>
          </a:p>
          <a:p>
            <a:pPr>
              <a:defRPr sz="1250">
                <a:solidFill>
                  <a:srgbClr val="D4D4D4"/>
                </a:solidFill>
                <a:latin typeface="Consolas"/>
              </a:defRPr>
            </a:pPr>
            <a:r>
              <a:t>ax.legend(title="Categoria")</a:t>
            </a:r>
          </a:p>
          <a:p>
            <a:pPr>
              <a:defRPr sz="1250">
                <a:solidFill>
                  <a:srgbClr val="D4D4D4"/>
                </a:solidFill>
                <a:latin typeface="Consolas"/>
              </a:defRPr>
            </a:pPr>
            <a:r>
              <a:t>fig.savefig("quantidade_vs_receita.png", dpi=150)</a:t>
            </a:r>
          </a:p>
        </p:txBody>
      </p:sp>
      <p:pic>
        <p:nvPicPr>
          <p:cNvPr id="5" name="Picture 4" descr="quantidade_vs_recei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2094067"/>
            <a:ext cx="5516575" cy="330994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17920" y="6035040"/>
            <a:ext cx="55165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404040"/>
                </a:solidFill>
              </a:defRPr>
            </a:pPr>
            <a:r>
              <a:t>quantidade_vs_receita.png — gerado por este código, imagem real do projeto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09090"/>
                </a:solidFill>
              </a:defRPr>
            </a:pPr>
            <a:r>
              <a:t>RF07 · salesinsight.py linhas 257-328 — título, eixos, legenda, paleta e dpi=150 em todos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4E79"/>
                </a:solidFill>
              </a:defRPr>
            </a:pPr>
            <a:r>
              <a:t>RF07.4 — Painel resumo (subplots 2×2)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04040"/>
                </a:solidFill>
              </a:defRPr>
            </a:pPr>
            <a:r>
              <a:t>plt.subplots(2,2) cria uma matriz de eixos; axes[0,0], axes[1,0] etc. são acessados individualmente.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508760"/>
            <a:ext cx="5486400" cy="4480560"/>
          </a:xfrm>
          <a:prstGeom prst="roundRect">
            <a:avLst/>
          </a:prstGeom>
          <a:solidFill>
            <a:srgbClr val="1E1E1E"/>
          </a:solidFill>
          <a:ln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37160" tIns="128016" bIns="128016"/>
          <a:lstStyle/>
          <a:p>
            <a:pPr algn="ctr">
              <a:defRPr sz="1250">
                <a:solidFill>
                  <a:srgbClr val="D4D4D4"/>
                </a:solidFill>
                <a:latin typeface="Consolas"/>
              </a:defRPr>
            </a:pPr>
            <a:r>
              <a:t>fig, axes = plt.subplots(2, 2, figsize=(14, 9))</a:t>
            </a:r>
          </a:p>
          <a:p>
            <a:pPr>
              <a:defRPr sz="1250">
                <a:solidFill>
                  <a:srgbClr val="D4D4D4"/>
                </a:solidFill>
                <a:latin typeface="Consolas"/>
              </a:defRPr>
            </a:pPr>
            <a:r>
              <a:t>axes[0, 0].plot(por_mes["mes"], ...)   # linha</a:t>
            </a:r>
          </a:p>
          <a:p>
            <a:pPr>
              <a:defRPr sz="1250">
                <a:solidFill>
                  <a:srgbClr val="D4D4D4"/>
                </a:solidFill>
                <a:latin typeface="Consolas"/>
              </a:defRPr>
            </a:pPr>
            <a:r>
              <a:t>axes[0, 1].bar(top["produto"], ...)     # barra</a:t>
            </a:r>
          </a:p>
          <a:p>
            <a:pPr>
              <a:defRPr sz="1250">
                <a:solidFill>
                  <a:srgbClr val="D4D4D4"/>
                </a:solidFill>
                <a:latin typeface="Consolas"/>
              </a:defRPr>
            </a:pPr>
            <a:r>
              <a:t>for categoria, grupo in df.groupby("categoria"):</a:t>
            </a:r>
          </a:p>
          <a:p>
            <a:pPr>
              <a:defRPr sz="1250">
                <a:solidFill>
                  <a:srgbClr val="D4D4D4"/>
                </a:solidFill>
                <a:latin typeface="Consolas"/>
              </a:defRPr>
            </a:pPr>
            <a:r>
              <a:t>    axes[1, 0].scatter(...)              # dispersao</a:t>
            </a:r>
          </a:p>
          <a:p>
            <a:pPr>
              <a:defRPr sz="1250">
                <a:solidFill>
                  <a:srgbClr val="D4D4D4"/>
                </a:solidFill>
                <a:latin typeface="Consolas"/>
              </a:defRPr>
            </a:pPr>
            <a:r>
              <a:t>axes[1, 1].bar(regiao["regiao"], ...)   # regiao</a:t>
            </a:r>
          </a:p>
          <a:p>
            <a:pPr>
              <a:defRPr sz="1250">
                <a:solidFill>
                  <a:srgbClr val="D4D4D4"/>
                </a:solidFill>
                <a:latin typeface="Consolas"/>
              </a:defRPr>
            </a:pPr>
            <a:r>
              <a:t>fig.suptitle("SalesInsight PY - Painel Resumo")</a:t>
            </a:r>
          </a:p>
          <a:p>
            <a:pPr>
              <a:defRPr sz="1250">
                <a:solidFill>
                  <a:srgbClr val="D4D4D4"/>
                </a:solidFill>
                <a:latin typeface="Consolas"/>
              </a:defRPr>
            </a:pPr>
            <a:r>
              <a:t>fig.savefig("painel_resumo.png", dpi=150)</a:t>
            </a:r>
          </a:p>
        </p:txBody>
      </p:sp>
      <p:pic>
        <p:nvPicPr>
          <p:cNvPr id="5" name="Picture 4" descr="painel_resum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975855"/>
            <a:ext cx="5516575" cy="354636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17920" y="6035040"/>
            <a:ext cx="55165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404040"/>
                </a:solidFill>
              </a:defRPr>
            </a:pPr>
            <a:r>
              <a:t>painel_resumo.png — gerado por este código, imagem real do projeto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09090"/>
                </a:solidFill>
              </a:defRPr>
            </a:pPr>
            <a:r>
              <a:t>RF07 · salesinsight.py linhas 257-328 — título, eixos, legenda, paleta e dpi=150 em todos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4E79"/>
                </a:solidFill>
              </a:defRPr>
            </a:pPr>
            <a:r>
              <a:t>RF08 — Função de ordem superior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04040"/>
                </a:solidFill>
              </a:defRPr>
            </a:pPr>
            <a:r>
              <a:t>processar_coluna recebe OUTRA FUNÇÃO como argumento (funcao_transformacao) — isso é o que a torna de ordem superior.</a:t>
            </a:r>
            <a:br/>
            <a:r>
              <a:t>Usada 3 vezes no projeto com lambdas diferentes: segmento de cliente, receita em milhares, perfil de volume.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645920" y="1920240"/>
            <a:ext cx="8869680" cy="4206240"/>
          </a:xfrm>
          <a:prstGeom prst="roundRect">
            <a:avLst/>
          </a:prstGeom>
          <a:solidFill>
            <a:srgbClr val="1E1E1E"/>
          </a:solidFill>
          <a:ln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37160" tIns="128016" bIns="128016"/>
          <a:lstStyle/>
          <a:p>
            <a:pPr algn="ctr">
              <a:defRPr sz="1500">
                <a:solidFill>
                  <a:srgbClr val="D4D4D4"/>
                </a:solidFill>
                <a:latin typeface="Consolas"/>
              </a:defRPr>
            </a:pPr>
            <a:r>
              <a:t>def processar_coluna(df, coluna,</a:t>
            </a:r>
          </a:p>
          <a:p>
            <a:pPr>
              <a:defRPr sz="1500">
                <a:solidFill>
                  <a:srgbClr val="D4D4D4"/>
                </a:solidFill>
                <a:latin typeface="Consolas"/>
              </a:defRPr>
            </a:pPr>
            <a:r>
              <a:t>                      funcao_transformacao,</a:t>
            </a:r>
          </a:p>
          <a:p>
            <a:pPr>
              <a:defRPr sz="1500">
                <a:solidFill>
                  <a:srgbClr val="D4D4D4"/>
                </a:solidFill>
                <a:latin typeface="Consolas"/>
              </a:defRPr>
            </a:pPr>
            <a:r>
              <a:t>                      nome_saida=None):</a:t>
            </a:r>
          </a:p>
          <a:p>
            <a:pPr>
              <a:defRPr sz="1500">
                <a:solidFill>
                  <a:srgbClr val="D4D4D4"/>
                </a:solidFill>
                <a:latin typeface="Consolas"/>
              </a:defRPr>
            </a:pPr>
            <a:r>
              <a:t>    nome_saida = nome_saida or f"{coluna}_transf"</a:t>
            </a:r>
          </a:p>
          <a:p>
            <a:pPr>
              <a:defRPr sz="1500">
                <a:solidFill>
                  <a:srgbClr val="D4D4D4"/>
                </a:solidFill>
                <a:latin typeface="Consolas"/>
              </a:defRPr>
            </a:pPr>
            <a:r>
              <a:t>    df[nome_saida] = df[coluna].apply(</a:t>
            </a:r>
          </a:p>
          <a:p>
            <a:pPr>
              <a:defRPr sz="1500">
                <a:solidFill>
                  <a:srgbClr val="D4D4D4"/>
                </a:solidFill>
                <a:latin typeface="Consolas"/>
              </a:defRPr>
            </a:pPr>
            <a:r>
              <a:t>        funcao_transformacao)</a:t>
            </a:r>
          </a:p>
          <a:p>
            <a:pPr>
              <a:defRPr sz="1500">
                <a:solidFill>
                  <a:srgbClr val="D4D4D4"/>
                </a:solidFill>
                <a:latin typeface="Consolas"/>
              </a:defRPr>
            </a:pPr>
            <a:r>
              <a:t>    return df</a:t>
            </a:r>
          </a:p>
          <a:p>
            <a:pPr>
              <a:defRPr sz="1500">
                <a:solidFill>
                  <a:srgbClr val="D4D4D4"/>
                </a:solidFill>
                <a:latin typeface="Consolas"/>
              </a:defRPr>
            </a:pPr>
          </a:p>
          <a:p>
            <a:pPr>
              <a:defRPr sz="1500">
                <a:solidFill>
                  <a:srgbClr val="D4D4D4"/>
                </a:solidFill>
                <a:latin typeface="Consolas"/>
              </a:defRPr>
            </a:pPr>
            <a:r>
              <a:t># uso com lambdas diferentes:</a:t>
            </a:r>
          </a:p>
          <a:p>
            <a:pPr>
              <a:defRPr sz="1500">
                <a:solidFill>
                  <a:srgbClr val="D4D4D4"/>
                </a:solidFill>
                <a:latin typeface="Consolas"/>
              </a:defRPr>
            </a:pPr>
            <a:r>
              <a:t>df = processar_coluna(df, "receita_total",</a:t>
            </a:r>
          </a:p>
          <a:p>
            <a:pPr>
              <a:defRPr sz="1500">
                <a:solidFill>
                  <a:srgbClr val="D4D4D4"/>
                </a:solidFill>
                <a:latin typeface="Consolas"/>
              </a:defRPr>
            </a:pPr>
            <a:r>
              <a:t>    lambda x: round(x / 1000, 2),</a:t>
            </a:r>
          </a:p>
          <a:p>
            <a:pPr>
              <a:defRPr sz="1500">
                <a:solidFill>
                  <a:srgbClr val="D4D4D4"/>
                </a:solidFill>
                <a:latin typeface="Consolas"/>
              </a:defRPr>
            </a:pPr>
            <a:r>
              <a:t>    nome_saida="receita_em_milhares")</a:t>
            </a:r>
          </a:p>
          <a:p>
            <a:pPr>
              <a:defRPr sz="1500">
                <a:solidFill>
                  <a:srgbClr val="D4D4D4"/>
                </a:solidFill>
                <a:latin typeface="Consolas"/>
              </a:defRPr>
            </a:pPr>
          </a:p>
          <a:p>
            <a:pPr>
              <a:defRPr sz="1500">
                <a:solidFill>
                  <a:srgbClr val="D4D4D4"/>
                </a:solidFill>
                <a:latin typeface="Consolas"/>
              </a:defRPr>
            </a:pPr>
            <a:r>
              <a:t>df = processar_coluna(df, "quantidade",</a:t>
            </a:r>
          </a:p>
          <a:p>
            <a:pPr>
              <a:defRPr sz="1500">
                <a:solidFill>
                  <a:srgbClr val="D4D4D4"/>
                </a:solidFill>
                <a:latin typeface="Consolas"/>
              </a:defRPr>
            </a:pPr>
            <a:r>
              <a:t>    lambda q: "Alto Volume" if q &gt; 5</a:t>
            </a:r>
          </a:p>
          <a:p>
            <a:pPr>
              <a:defRPr sz="1500">
                <a:solidFill>
                  <a:srgbClr val="D4D4D4"/>
                </a:solidFill>
                <a:latin typeface="Consolas"/>
              </a:defRPr>
            </a:pPr>
            <a:r>
              <a:t>              else "Baixo Volume",</a:t>
            </a:r>
          </a:p>
          <a:p>
            <a:pPr>
              <a:defRPr sz="1500">
                <a:solidFill>
                  <a:srgbClr val="D4D4D4"/>
                </a:solidFill>
                <a:latin typeface="Consolas"/>
              </a:defRPr>
            </a:pPr>
            <a:r>
              <a:t>    nome_saida="perfil_volume")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09090"/>
                </a:solidFill>
              </a:defRPr>
            </a:pPr>
            <a:r>
              <a:t>RF08 · salesinsight.py linhas 167-171, 377-383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4E79"/>
                </a:solidFill>
              </a:defRPr>
            </a:pPr>
            <a:r>
              <a:t>RF09 — Exportar CSV e JSON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04040"/>
                </a:solidFill>
              </a:defRPr>
            </a:pPr>
            <a:r>
              <a:t>to_csv com utf-8-sig (acentos no Excel); json.dump + json.load logo depois comprova a gravação.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508760"/>
            <a:ext cx="5486400" cy="4480560"/>
          </a:xfrm>
          <a:prstGeom prst="roundRect">
            <a:avLst/>
          </a:prstGeom>
          <a:solidFill>
            <a:srgbClr val="1E1E1E"/>
          </a:solidFill>
          <a:ln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37160" tIns="128016" bIns="128016"/>
          <a:lstStyle/>
          <a:p>
            <a:pPr algn="ctr">
              <a:defRPr sz="1250">
                <a:solidFill>
                  <a:srgbClr val="D4D4D4"/>
                </a:solidFill>
                <a:latin typeface="Consolas"/>
              </a:defRPr>
            </a:pPr>
            <a:r>
              <a:t>metricas["por_mes"].to_csv(</a:t>
            </a:r>
          </a:p>
          <a:p>
            <a:pPr>
              <a:defRPr sz="1250">
                <a:solidFill>
                  <a:srgbClr val="D4D4D4"/>
                </a:solidFill>
                <a:latin typeface="Consolas"/>
              </a:defRPr>
            </a:pPr>
            <a:r>
              <a:t>    "outputs/metricas_por_mes.csv",</a:t>
            </a:r>
          </a:p>
          <a:p>
            <a:pPr>
              <a:defRPr sz="1250">
                <a:solidFill>
                  <a:srgbClr val="D4D4D4"/>
                </a:solidFill>
                <a:latin typeface="Consolas"/>
              </a:defRPr>
            </a:pPr>
            <a:r>
              <a:t>    index=False, encoding="utf-8-sig")</a:t>
            </a:r>
          </a:p>
          <a:p>
            <a:pPr>
              <a:defRPr sz="1250">
                <a:solidFill>
                  <a:srgbClr val="D4D4D4"/>
                </a:solidFill>
                <a:latin typeface="Consolas"/>
              </a:defRPr>
            </a:pPr>
          </a:p>
          <a:p>
            <a:pPr>
              <a:defRPr sz="1250">
                <a:solidFill>
                  <a:srgbClr val="D4D4D4"/>
                </a:solidFill>
                <a:latin typeface="Consolas"/>
              </a:defRPr>
            </a:pPr>
            <a:r>
              <a:t>serializavel = {k: round(float(v), 2)</a:t>
            </a:r>
          </a:p>
          <a:p>
            <a:pPr>
              <a:defRPr sz="1250">
                <a:solidFill>
                  <a:srgbClr val="D4D4D4"/>
                </a:solidFill>
                <a:latin typeface="Consolas"/>
              </a:defRPr>
            </a:pPr>
            <a:r>
              <a:t>                for k, v in estatisticas.items()}</a:t>
            </a:r>
          </a:p>
          <a:p>
            <a:pPr>
              <a:defRPr sz="1250">
                <a:solidFill>
                  <a:srgbClr val="D4D4D4"/>
                </a:solidFill>
                <a:latin typeface="Consolas"/>
              </a:defRPr>
            </a:pPr>
            <a:r>
              <a:t>with open(caminho, "w", encoding="utf-8") as f:</a:t>
            </a:r>
          </a:p>
          <a:p>
            <a:pPr>
              <a:defRPr sz="1250">
                <a:solidFill>
                  <a:srgbClr val="D4D4D4"/>
                </a:solidFill>
                <a:latin typeface="Consolas"/>
              </a:defRPr>
            </a:pPr>
            <a:r>
              <a:t>    json.dump(serializavel, f, indent=4,</a:t>
            </a:r>
          </a:p>
          <a:p>
            <a:pPr>
              <a:defRPr sz="1250">
                <a:solidFill>
                  <a:srgbClr val="D4D4D4"/>
                </a:solidFill>
                <a:latin typeface="Consolas"/>
              </a:defRPr>
            </a:pPr>
            <a:r>
              <a:t>              ensure_ascii=False)</a:t>
            </a:r>
          </a:p>
          <a:p>
            <a:pPr>
              <a:defRPr sz="1250">
                <a:solidFill>
                  <a:srgbClr val="D4D4D4"/>
                </a:solidFill>
                <a:latin typeface="Consolas"/>
              </a:defRPr>
            </a:pPr>
          </a:p>
          <a:p>
            <a:pPr>
              <a:defRPr sz="1250">
                <a:solidFill>
                  <a:srgbClr val="D4D4D4"/>
                </a:solidFill>
                <a:latin typeface="Consolas"/>
              </a:defRPr>
            </a:pPr>
            <a:r>
              <a:t># releitura: prova de que a gravacao funcionou</a:t>
            </a:r>
          </a:p>
          <a:p>
            <a:pPr>
              <a:defRPr sz="1250">
                <a:solidFill>
                  <a:srgbClr val="D4D4D4"/>
                </a:solidFill>
                <a:latin typeface="Consolas"/>
              </a:defRPr>
            </a:pPr>
            <a:r>
              <a:t>with open(caminho, "r", encoding="utf-8") as f:</a:t>
            </a:r>
          </a:p>
          <a:p>
            <a:pPr>
              <a:defRPr sz="1250">
                <a:solidFill>
                  <a:srgbClr val="D4D4D4"/>
                </a:solidFill>
                <a:latin typeface="Consolas"/>
              </a:defRPr>
            </a:pPr>
            <a:r>
              <a:t>    conferencia = json.load(f)</a:t>
            </a:r>
          </a:p>
          <a:p>
            <a:pPr>
              <a:defRPr sz="1250">
                <a:solidFill>
                  <a:srgbClr val="D4D4D4"/>
                </a:solidFill>
                <a:latin typeface="Consolas"/>
              </a:defRPr>
            </a:pPr>
            <a:r>
              <a:t>print(f"JSON gravado e lido: {conferencia}")</a:t>
            </a:r>
          </a:p>
        </p:txBody>
      </p:sp>
      <p:pic>
        <p:nvPicPr>
          <p:cNvPr id="5" name="Picture 4" descr="rf09_estatisticas_j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2316351"/>
            <a:ext cx="5516575" cy="286537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217920" y="6035040"/>
            <a:ext cx="551657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404040"/>
                </a:solidFill>
              </a:defRPr>
            </a:pPr>
            <a:r>
              <a:t>estatisticas_gerais.json — gravado e relido com sucesso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09090"/>
                </a:solidFill>
              </a:defRPr>
            </a:pPr>
            <a:r>
              <a:t>RF09 · salesinsight.py linhas 334-352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4E79"/>
                </a:solidFill>
              </a:defRPr>
            </a:pPr>
            <a:r>
              <a:t>RF10 — Orquestração (ponto de entrada)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77295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04040"/>
                </a:solidFill>
              </a:defRPr>
            </a:pPr>
            <a:r>
              <a:t>A classe guarda o estado entre as etapas. if __name__ == "__main__" garante que main() só roda quando o arquivo é executado direto — não quando importado.</a:t>
            </a:r>
            <a:br/>
            <a:r>
              <a:t>Ordem fixa: carregar → inspecionar → transformar (limpeza antes das derivadas) → analisar → visualizar → resumo.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011680" y="2057400"/>
            <a:ext cx="8138160" cy="4480560"/>
          </a:xfrm>
          <a:prstGeom prst="roundRect">
            <a:avLst/>
          </a:prstGeom>
          <a:solidFill>
            <a:srgbClr val="1E1E1E"/>
          </a:solidFill>
          <a:ln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37160" tIns="128016" bIns="128016"/>
          <a:lstStyle/>
          <a:p>
            <a:pPr algn="ctr">
              <a:defRPr sz="1400">
                <a:solidFill>
                  <a:srgbClr val="D4D4D4"/>
                </a:solidFill>
                <a:latin typeface="Consolas"/>
              </a:defRPr>
            </a:pPr>
            <a:r>
              <a:t>class AnalisadorDeVendas:</a:t>
            </a:r>
          </a:p>
          <a:p>
            <a:pPr>
              <a:defRPr sz="1400">
                <a:solidFill>
                  <a:srgbClr val="D4D4D4"/>
                </a:solidFill>
                <a:latin typeface="Consolas"/>
              </a:defRPr>
            </a:pPr>
            <a:r>
              <a:t>    def __init__(self):</a:t>
            </a:r>
          </a:p>
          <a:p>
            <a:pPr>
              <a:defRPr sz="1400">
                <a:solidFill>
                  <a:srgbClr val="D4D4D4"/>
                </a:solidFill>
                <a:latin typeface="Consolas"/>
              </a:defRPr>
            </a:pPr>
            <a:r>
              <a:t>        self.df_bruto = None</a:t>
            </a:r>
          </a:p>
          <a:p>
            <a:pPr>
              <a:defRPr sz="1400">
                <a:solidFill>
                  <a:srgbClr val="D4D4D4"/>
                </a:solidFill>
                <a:latin typeface="Consolas"/>
              </a:defRPr>
            </a:pPr>
            <a:r>
              <a:t>        self.df = None</a:t>
            </a:r>
          </a:p>
          <a:p>
            <a:pPr>
              <a:defRPr sz="1400">
                <a:solidFill>
                  <a:srgbClr val="D4D4D4"/>
                </a:solidFill>
                <a:latin typeface="Consolas"/>
              </a:defRPr>
            </a:pPr>
            <a:r>
              <a:t>        self.metricas = None</a:t>
            </a:r>
          </a:p>
          <a:p>
            <a:pPr>
              <a:defRPr sz="1400">
                <a:solidFill>
                  <a:srgbClr val="D4D4D4"/>
                </a:solidFill>
                <a:latin typeface="Consolas"/>
              </a:defRPr>
            </a:pPr>
            <a:r>
              <a:t>        self.clientes = None</a:t>
            </a:r>
          </a:p>
          <a:p>
            <a:pPr>
              <a:defRPr sz="1400">
                <a:solidFill>
                  <a:srgbClr val="D4D4D4"/>
                </a:solidFill>
                <a:latin typeface="Consolas"/>
              </a:defRPr>
            </a:pPr>
          </a:p>
          <a:p>
            <a:pPr>
              <a:defRPr sz="1400">
                <a:solidFill>
                  <a:srgbClr val="D4D4D4"/>
                </a:solidFill>
                <a:latin typeface="Consolas"/>
              </a:defRPr>
            </a:pPr>
            <a:r>
              <a:t>    def carregar(self, caminho): ...</a:t>
            </a:r>
          </a:p>
          <a:p>
            <a:pPr>
              <a:defRPr sz="1400">
                <a:solidFill>
                  <a:srgbClr val="D4D4D4"/>
                </a:solidFill>
                <a:latin typeface="Consolas"/>
              </a:defRPr>
            </a:pPr>
            <a:r>
              <a:t>    def transformar(self): ...   # limpa ANTES de derivar</a:t>
            </a:r>
          </a:p>
          <a:p>
            <a:pPr>
              <a:defRPr sz="1400">
                <a:solidFill>
                  <a:srgbClr val="D4D4D4"/>
                </a:solidFill>
                <a:latin typeface="Consolas"/>
              </a:defRPr>
            </a:pPr>
            <a:r>
              <a:t>    def analisar(self): ...</a:t>
            </a:r>
          </a:p>
          <a:p>
            <a:pPr>
              <a:defRPr sz="1400">
                <a:solidFill>
                  <a:srgbClr val="D4D4D4"/>
                </a:solidFill>
                <a:latin typeface="Consolas"/>
              </a:defRPr>
            </a:pPr>
            <a:r>
              <a:t>    def visualizar(self): ...</a:t>
            </a:r>
          </a:p>
          <a:p>
            <a:pPr>
              <a:defRPr sz="1400">
                <a:solidFill>
                  <a:srgbClr val="D4D4D4"/>
                </a:solidFill>
                <a:latin typeface="Consolas"/>
              </a:defRPr>
            </a:pPr>
            <a:r>
              <a:t>    def resumo(self): ...</a:t>
            </a:r>
          </a:p>
          <a:p>
            <a:pPr>
              <a:defRPr sz="1400">
                <a:solidFill>
                  <a:srgbClr val="D4D4D4"/>
                </a:solidFill>
                <a:latin typeface="Consolas"/>
              </a:defRPr>
            </a:pPr>
          </a:p>
          <a:p>
            <a:pPr>
              <a:defRPr sz="1400">
                <a:solidFill>
                  <a:srgbClr val="D4D4D4"/>
                </a:solidFill>
                <a:latin typeface="Consolas"/>
              </a:defRPr>
            </a:pPr>
            <a:r>
              <a:t>def main():</a:t>
            </a:r>
          </a:p>
          <a:p>
            <a:pPr>
              <a:defRPr sz="1400">
                <a:solidFill>
                  <a:srgbClr val="D4D4D4"/>
                </a:solidFill>
                <a:latin typeface="Consolas"/>
              </a:defRPr>
            </a:pPr>
            <a:r>
              <a:t>    analisador = AnalisadorDeVendas()</a:t>
            </a:r>
          </a:p>
          <a:p>
            <a:pPr>
              <a:defRPr sz="1400">
                <a:solidFill>
                  <a:srgbClr val="D4D4D4"/>
                </a:solidFill>
                <a:latin typeface="Consolas"/>
              </a:defRPr>
            </a:pPr>
            <a:r>
              <a:t>    analisador.carregar("vendas.csv")</a:t>
            </a:r>
          </a:p>
          <a:p>
            <a:pPr>
              <a:defRPr sz="1400">
                <a:solidFill>
                  <a:srgbClr val="D4D4D4"/>
                </a:solidFill>
                <a:latin typeface="Consolas"/>
              </a:defRPr>
            </a:pPr>
            <a:r>
              <a:t>    analisador.transformar()</a:t>
            </a:r>
          </a:p>
          <a:p>
            <a:pPr>
              <a:defRPr sz="1400">
                <a:solidFill>
                  <a:srgbClr val="D4D4D4"/>
                </a:solidFill>
                <a:latin typeface="Consolas"/>
              </a:defRPr>
            </a:pPr>
            <a:r>
              <a:t>    analisador.analisar()</a:t>
            </a:r>
          </a:p>
          <a:p>
            <a:pPr>
              <a:defRPr sz="1400">
                <a:solidFill>
                  <a:srgbClr val="D4D4D4"/>
                </a:solidFill>
                <a:latin typeface="Consolas"/>
              </a:defRPr>
            </a:pPr>
            <a:r>
              <a:t>    analisador.visualizar()</a:t>
            </a:r>
          </a:p>
          <a:p>
            <a:pPr>
              <a:defRPr sz="1400">
                <a:solidFill>
                  <a:srgbClr val="D4D4D4"/>
                </a:solidFill>
                <a:latin typeface="Consolas"/>
              </a:defRPr>
            </a:pPr>
            <a:r>
              <a:t>    analisador.resumo()</a:t>
            </a:r>
          </a:p>
          <a:p>
            <a:pPr>
              <a:defRPr sz="1400">
                <a:solidFill>
                  <a:srgbClr val="D4D4D4"/>
                </a:solidFill>
                <a:latin typeface="Consolas"/>
              </a:defRPr>
            </a:pPr>
          </a:p>
          <a:p>
            <a:pPr>
              <a:defRPr sz="1400">
                <a:solidFill>
                  <a:srgbClr val="D4D4D4"/>
                </a:solidFill>
                <a:latin typeface="Consolas"/>
              </a:defRPr>
            </a:pPr>
            <a:r>
              <a:t>if __name__ == "__main__":</a:t>
            </a:r>
          </a:p>
          <a:p>
            <a:pPr>
              <a:defRPr sz="1400">
                <a:solidFill>
                  <a:srgbClr val="D4D4D4"/>
                </a:solidFill>
                <a:latin typeface="Consolas"/>
              </a:defRPr>
            </a:pPr>
            <a:r>
              <a:t>    main()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09090"/>
                </a:solidFill>
              </a:defRPr>
            </a:pPr>
            <a:r>
              <a:t>RF10 · salesinsight.py linhas 358-437 — fluxo completo testado do zero, 0 erros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4E79"/>
                </a:solidFill>
              </a:defRPr>
            </a:pPr>
            <a:r>
              <a:t>Versionamento — branches e commits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04040"/>
                </a:solidFill>
              </a:defRPr>
            </a:pPr>
            <a:r>
              <a:t>main (estável) ← develop (integração) ← feat/pipeline-dados (todo o código) e docs/readme (documentação).</a:t>
            </a:r>
            <a:br/>
            <a:r>
              <a:t>Commits no padrão conventional commits: feat: · fix: · docs: · merge:</a:t>
            </a:r>
          </a:p>
        </p:txBody>
      </p:sp>
      <p:pic>
        <p:nvPicPr>
          <p:cNvPr id="4" name="Picture 3" descr="github_network_graph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248593"/>
            <a:ext cx="5486400" cy="336665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0807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404040"/>
                </a:solidFill>
              </a:defRPr>
            </a:pPr>
            <a:r>
              <a:t>Grafo real do Git (GitHub Network) — merges visíveis</a:t>
            </a:r>
          </a:p>
        </p:txBody>
      </p:sp>
      <p:pic>
        <p:nvPicPr>
          <p:cNvPr id="6" name="Picture 5" descr="github_branche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2248593"/>
            <a:ext cx="5486400" cy="336665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17920" y="60807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404040"/>
                </a:solidFill>
              </a:defRPr>
            </a:pPr>
            <a:r>
              <a:t>Lista de branches reais no GitHub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09090"/>
                </a:solidFill>
              </a:defRPr>
            </a:pPr>
            <a:r>
              <a:t>github.com/petersongardin/SalesInsight-PY/network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4E79"/>
                </a:solidFill>
              </a:defRPr>
            </a:pPr>
            <a:r>
              <a:t>Histórico de commits no GitHub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04040"/>
                </a:solidFill>
              </a:defRPr>
            </a:pPr>
            <a:r>
              <a:t>Cada commit é uma etapa do trabalho — mensagens no padrão conventional commits, nenhuma etapa escondida.</a:t>
            </a:r>
          </a:p>
        </p:txBody>
      </p:sp>
      <p:pic>
        <p:nvPicPr>
          <p:cNvPr id="4" name="Picture 3" descr="github_commit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1907" y="1600200"/>
            <a:ext cx="7897706" cy="4846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09090"/>
                </a:solidFill>
              </a:defRPr>
            </a:pPr>
            <a:r>
              <a:t>github.com/petersongardin/SalesInsight-PY/commits/main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4E79"/>
                </a:solidFill>
              </a:defRPr>
            </a:pPr>
            <a:r>
              <a:t>Organização: Kanban (Trello)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60120"/>
            <a:ext cx="112772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04040"/>
                </a:solidFill>
              </a:defRPr>
            </a:pPr>
            <a:r>
              <a:t>4 colunas: Backlog · A Fazer · Em Andamento · Concluído — um card por RF, atualizado conforme o trabalho avançou.</a:t>
            </a:r>
          </a:p>
        </p:txBody>
      </p:sp>
      <p:pic>
        <p:nvPicPr>
          <p:cNvPr id="4" name="Picture 3" descr="trello_board_top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1907" y="1600200"/>
            <a:ext cx="7897706" cy="4846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09090"/>
                </a:solidFill>
              </a:defRPr>
            </a:pPr>
            <a:r>
              <a:t>trello.com/b/GrpLE5D8/salesinsight-py-kanban — link público de visualização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4E79"/>
                </a:solidFill>
              </a:defRPr>
            </a:pPr>
            <a:r>
              <a:t>Decisão técnica: remover datas inválidas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280160"/>
            <a:ext cx="5486400" cy="1554480"/>
          </a:xfrm>
          <a:prstGeom prst="roundRect">
            <a:avLst/>
          </a:prstGeom>
          <a:solidFill>
            <a:srgbClr val="1E1E1E"/>
          </a:solidFill>
          <a:ln>
            <a:solidFill>
              <a:srgbClr val="3A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37160" tIns="128016" bIns="128016"/>
          <a:lstStyle/>
          <a:p>
            <a:pPr algn="ctr">
              <a:defRPr sz="1600">
                <a:solidFill>
                  <a:srgbClr val="D4D4D4"/>
                </a:solidFill>
                <a:latin typeface="Consolas"/>
              </a:defRPr>
            </a:pPr>
            <a:r>
              <a:t>df["data_venda"] = pd.to_datetime(</a:t>
            </a:r>
          </a:p>
          <a:p>
            <a:pPr>
              <a:defRPr sz="1600">
                <a:solidFill>
                  <a:srgbClr val="D4D4D4"/>
                </a:solidFill>
                <a:latin typeface="Consolas"/>
              </a:defRPr>
            </a:pPr>
            <a:r>
              <a:t>    df["data_venda"], errors="coerce")</a:t>
            </a:r>
          </a:p>
          <a:p>
            <a:pPr>
              <a:defRPr sz="1600">
                <a:solidFill>
                  <a:srgbClr val="D4D4D4"/>
                </a:solidFill>
                <a:latin typeface="Consolas"/>
              </a:defRPr>
            </a:pPr>
            <a:r>
              <a:t>df = df.dropna(subset=["data_venda"])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3017520"/>
            <a:ext cx="5486400" cy="1463040"/>
          </a:xfrm>
          <a:prstGeom prst="roundRect">
            <a:avLst/>
          </a:prstGeom>
          <a:solidFill>
            <a:srgbClr val="EAF1F8"/>
          </a:solidFill>
          <a:ln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b="1" sz="1600">
                <a:solidFill>
                  <a:srgbClr val="1F4E79"/>
                </a:solidFill>
              </a:defRPr>
            </a:pPr>
            <a:r>
              <a:t>Por que remover?</a:t>
            </a:r>
          </a:p>
          <a:p>
            <a:pPr>
              <a:defRPr sz="1400">
                <a:solidFill>
                  <a:srgbClr val="404040"/>
                </a:solidFill>
              </a:defRPr>
            </a:pPr>
            <a:r>
              <a:t>Sem data não há mês nem trimestre: manter distorceria as métricas por período.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4663440"/>
            <a:ext cx="5486400" cy="1463040"/>
          </a:xfrm>
          <a:prstGeom prst="roundRect">
            <a:avLst/>
          </a:prstGeom>
          <a:solidFill>
            <a:srgbClr val="FDF2E3"/>
          </a:solidFill>
          <a:ln>
            <a:solidFill>
              <a:srgbClr val="E07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defRPr b="1" sz="1600">
                <a:solidFill>
                  <a:srgbClr val="E07B00"/>
                </a:solidFill>
              </a:defRPr>
            </a:pPr>
            <a:r>
              <a:t>Custo</a:t>
            </a:r>
          </a:p>
          <a:p>
            <a:pPr>
              <a:defRPr sz="1400">
                <a:solidFill>
                  <a:srgbClr val="404040"/>
                </a:solidFill>
              </a:defRPr>
            </a:pPr>
            <a:r>
              <a:t>6 de 200 registros (3%), registrado no relatório de limpeza — sem imputação (fora do escopo do módulo).</a:t>
            </a:r>
          </a:p>
        </p:txBody>
      </p:sp>
      <p:pic>
        <p:nvPicPr>
          <p:cNvPr id="6" name="Picture 5" descr="rf01_vendas_cs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2463123"/>
            <a:ext cx="5486400" cy="248039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17920" y="61722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404040"/>
                </a:solidFill>
              </a:defRPr>
            </a:pPr>
            <a:r>
              <a:t>A linha 2 mostra "DATA INVALIDA" — exatamente o caso tratado aqui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09090"/>
                </a:solidFill>
              </a:defRPr>
            </a:pPr>
            <a:r>
              <a:t>RF03 · decisão registrada em DECISOES.md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4E79"/>
                </a:solidFill>
              </a:defRPr>
            </a:pPr>
            <a:r>
              <a:t>O que poderia melhorar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463040"/>
            <a:ext cx="2682163" cy="274320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82880"/>
          <a:lstStyle/>
          <a:p>
            <a:pPr algn="ctr">
              <a:defRPr b="1" sz="1800">
                <a:solidFill>
                  <a:srgbClr val="FFFFFF"/>
                </a:solidFill>
              </a:defRPr>
            </a:pPr>
            <a:r>
              <a:t>Dados reais</a:t>
            </a:r>
          </a:p>
          <a:p>
            <a:pPr>
              <a:defRPr sz="1300">
                <a:solidFill>
                  <a:srgbClr val="F0F0F0"/>
                </a:solidFill>
              </a:defRPr>
            </a:pPr>
            <a:r>
              <a:t>Trocar o CSV sintético por um dataset real e mais "sujo".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322243" y="1463040"/>
            <a:ext cx="2682163" cy="2743200"/>
          </a:xfrm>
          <a:prstGeom prst="round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82880"/>
          <a:lstStyle/>
          <a:p>
            <a:pPr algn="ctr">
              <a:defRPr b="1" sz="1800">
                <a:solidFill>
                  <a:srgbClr val="FFFFFF"/>
                </a:solidFill>
              </a:defRPr>
            </a:pPr>
            <a:r>
              <a:t>Testes</a:t>
            </a:r>
          </a:p>
          <a:p>
            <a:pPr>
              <a:defRPr sz="1300">
                <a:solidFill>
                  <a:srgbClr val="F0F0F0"/>
                </a:solidFill>
              </a:defRPr>
            </a:pPr>
            <a:r>
              <a:t>Testes automatizados para limpeza e métricas.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87287" y="1463040"/>
            <a:ext cx="2682163" cy="2743200"/>
          </a:xfrm>
          <a:prstGeom prst="roundRect">
            <a:avLst/>
          </a:prstGeom>
          <a:solidFill>
            <a:srgbClr val="E07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82880"/>
          <a:lstStyle/>
          <a:p>
            <a:pPr algn="ctr">
              <a:defRPr b="1" sz="1800">
                <a:solidFill>
                  <a:srgbClr val="FFFFFF"/>
                </a:solidFill>
              </a:defRPr>
            </a:pPr>
            <a:r>
              <a:t>Bônus</a:t>
            </a:r>
          </a:p>
          <a:p>
            <a:pPr>
              <a:defRPr sz="1300">
                <a:solidFill>
                  <a:srgbClr val="F0F0F0"/>
                </a:solidFill>
              </a:defRPr>
            </a:pPr>
            <a:r>
              <a:t>Projeção por média móvel, pivot mês × categoria e quartis.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052331" y="1463040"/>
            <a:ext cx="2682163" cy="2743200"/>
          </a:xfrm>
          <a:prstGeom prst="round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82880"/>
          <a:lstStyle/>
          <a:p>
            <a:pPr algn="ctr">
              <a:defRPr b="1" sz="1800">
                <a:solidFill>
                  <a:srgbClr val="FFFFFF"/>
                </a:solidFill>
              </a:defRPr>
            </a:pPr>
            <a:r>
              <a:t>Segmentos</a:t>
            </a:r>
          </a:p>
          <a:p>
            <a:pPr>
              <a:defRPr sz="1300">
                <a:solidFill>
                  <a:srgbClr val="F0F0F0"/>
                </a:solidFill>
              </a:defRPr>
            </a:pPr>
            <a:r>
              <a:t>Rever os limites Bronze/Prata/Ouro: hoje quase todos viram Ouro.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0"/>
            <a:ext cx="11277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F4E79"/>
                </a:solidFill>
              </a:defRPr>
            </a:pPr>
            <a:r>
              <a:t>Repositório: github.com/petersongardin/SalesInsight-PY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029200"/>
            <a:ext cx="11277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F4E79"/>
                </a:solidFill>
              </a:defRPr>
            </a:pPr>
            <a:r>
              <a:t>Kanban: trello.com/b/GrpLE5D8/salesinsight-py-kanban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486400"/>
            <a:ext cx="11277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F4E79"/>
                </a:solidFill>
              </a:defRPr>
            </a:pPr>
            <a:r>
              <a:t>Vídeo: [inserir link do Google Drive]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11277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09090"/>
                </a:solidFill>
              </a:defRPr>
            </a:pPr>
            <a:r>
              <a:t>Obrigado!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7729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4E79"/>
                </a:solidFill>
              </a:defRPr>
            </a:pPr>
            <a:r>
              <a:t>Checklist final de entrega</a:t>
            </a:r>
          </a:p>
          <a:p>
            <a:pPr>
              <a:defRPr sz="1300">
                <a:solidFill>
                  <a:srgbClr val="404040"/>
                </a:solidFill>
              </a:defRPr>
            </a:pPr>
            <a:r>
              <a:t>Itens do enunciado (seção 6) — o que foi cumprido neste projeto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5501487" cy="310896"/>
          </a:xfrm>
          <a:prstGeom prst="roundRect">
            <a:avLst/>
          </a:prstGeom>
          <a:solidFill>
            <a:srgbClr val="EAF6EF"/>
          </a:solidFill>
          <a:ln w="1270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36576" bIns="36576"/>
          <a:lstStyle/>
          <a:p>
            <a:pPr algn="ctr">
              <a:defRPr sz="1150" b="1">
                <a:solidFill>
                  <a:srgbClr val="1E5E3C"/>
                </a:solidFill>
              </a:defRPr>
            </a:pPr>
            <a:r>
              <a:t>✅ Repositório PÚBLICO no GitHub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33007" y="1097280"/>
            <a:ext cx="5501487" cy="310896"/>
          </a:xfrm>
          <a:prstGeom prst="roundRect">
            <a:avLst/>
          </a:prstGeom>
          <a:solidFill>
            <a:srgbClr val="EAF6EF"/>
          </a:solidFill>
          <a:ln w="1270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36576" bIns="36576"/>
          <a:lstStyle/>
          <a:p>
            <a:pPr algn="ctr">
              <a:defRPr sz="1150" b="1">
                <a:solidFill>
                  <a:srgbClr val="1E5E3C"/>
                </a:solidFill>
              </a:defRPr>
            </a:pPr>
            <a:r>
              <a:t>✅ Arquivo salesinsight.py + notebook SalesInsight_PY_Colab.ipynb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444752"/>
            <a:ext cx="5501487" cy="310896"/>
          </a:xfrm>
          <a:prstGeom prst="roundRect">
            <a:avLst/>
          </a:prstGeom>
          <a:solidFill>
            <a:srgbClr val="EAF6EF"/>
          </a:solidFill>
          <a:ln w="1270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36576" bIns="36576"/>
          <a:lstStyle/>
          <a:p>
            <a:pPr algn="ctr">
              <a:defRPr sz="1150" b="1">
                <a:solidFill>
                  <a:srgbClr val="1E5E3C"/>
                </a:solidFill>
              </a:defRPr>
            </a:pPr>
            <a:r>
              <a:t>✅ README.md com objetivo, execução e conceitos aplicados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33007" y="1444752"/>
            <a:ext cx="5501487" cy="310896"/>
          </a:xfrm>
          <a:prstGeom prst="roundRect">
            <a:avLst/>
          </a:prstGeom>
          <a:solidFill>
            <a:srgbClr val="EAF6EF"/>
          </a:solidFill>
          <a:ln w="1270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36576" bIns="36576"/>
          <a:lstStyle/>
          <a:p>
            <a:pPr algn="ctr">
              <a:defRPr sz="1150" b="1">
                <a:solidFill>
                  <a:srgbClr val="1E5E3C"/>
                </a:solidFill>
              </a:defRPr>
            </a:pPr>
            <a:r>
              <a:t>✅ vendas.csv gerado pelo próprio código (seed=42, reprodutível)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792224"/>
            <a:ext cx="5501487" cy="310896"/>
          </a:xfrm>
          <a:prstGeom prst="roundRect">
            <a:avLst/>
          </a:prstGeom>
          <a:solidFill>
            <a:srgbClr val="EAF6EF"/>
          </a:solidFill>
          <a:ln w="1270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36576" bIns="36576"/>
          <a:lstStyle/>
          <a:p>
            <a:pPr algn="ctr">
              <a:defRPr sz="1150" b="1">
                <a:solidFill>
                  <a:srgbClr val="1E5E3C"/>
                </a:solidFill>
              </a:defRPr>
            </a:pPr>
            <a:r>
              <a:t>✅ Inspeção com .shape, .dtypes, .isnull(), .head() (RF02)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3007" y="1792224"/>
            <a:ext cx="5501487" cy="310896"/>
          </a:xfrm>
          <a:prstGeom prst="roundRect">
            <a:avLst/>
          </a:prstGeom>
          <a:solidFill>
            <a:srgbClr val="EAF6EF"/>
          </a:solidFill>
          <a:ln w="1270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36576" bIns="36576"/>
          <a:lstStyle/>
          <a:p>
            <a:pPr algn="ctr">
              <a:defRPr sz="1150" b="1">
                <a:solidFill>
                  <a:srgbClr val="1E5E3C"/>
                </a:solidFill>
              </a:defRPr>
            </a:pPr>
            <a:r>
              <a:t>✅ Conversão de tipo e remoção de data inválida + relatório (RF03)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139696"/>
            <a:ext cx="5501487" cy="310896"/>
          </a:xfrm>
          <a:prstGeom prst="roundRect">
            <a:avLst/>
          </a:prstGeom>
          <a:solidFill>
            <a:srgbClr val="EAF6EF"/>
          </a:solidFill>
          <a:ln w="1270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36576" bIns="36576"/>
          <a:lstStyle/>
          <a:p>
            <a:pPr algn="ctr">
              <a:defRPr sz="1150" b="1">
                <a:solidFill>
                  <a:srgbClr val="1E5E3C"/>
                </a:solidFill>
              </a:defRPr>
            </a:pPr>
            <a:r>
              <a:t>✅ datetime: mês, trimestre e ano extraídos (RF04)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3007" y="2139696"/>
            <a:ext cx="5501487" cy="310896"/>
          </a:xfrm>
          <a:prstGeom prst="roundRect">
            <a:avLst/>
          </a:prstGeom>
          <a:solidFill>
            <a:srgbClr val="EAF6EF"/>
          </a:solidFill>
          <a:ln w="1270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36576" bIns="36576"/>
          <a:lstStyle/>
          <a:p>
            <a:pPr algn="ctr">
              <a:defRPr sz="1150" b="1">
                <a:solidFill>
                  <a:srgbClr val="1E5E3C"/>
                </a:solidFill>
              </a:defRPr>
            </a:pPr>
            <a:r>
              <a:t>✅ Colunas derivadas: receita_total, faixa_receita_item (RF04)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487168"/>
            <a:ext cx="5501487" cy="310896"/>
          </a:xfrm>
          <a:prstGeom prst="roundRect">
            <a:avLst/>
          </a:prstGeom>
          <a:solidFill>
            <a:srgbClr val="EAF6EF"/>
          </a:solidFill>
          <a:ln w="1270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36576" bIns="36576"/>
          <a:lstStyle/>
          <a:p>
            <a:pPr algn="ctr">
              <a:defRPr sz="1150" b="1">
                <a:solidFill>
                  <a:srgbClr val="1E5E3C"/>
                </a:solidFill>
              </a:defRPr>
            </a:pPr>
            <a:r>
              <a:t>✅ Transformação condicional vetorizada com np.select (RF04)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3007" y="2487168"/>
            <a:ext cx="5501487" cy="310896"/>
          </a:xfrm>
          <a:prstGeom prst="roundRect">
            <a:avLst/>
          </a:prstGeom>
          <a:solidFill>
            <a:srgbClr val="EAF6EF"/>
          </a:solidFill>
          <a:ln w="1270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36576" bIns="36576"/>
          <a:lstStyle/>
          <a:p>
            <a:pPr algn="ctr">
              <a:defRPr sz="1150" b="1">
                <a:solidFill>
                  <a:srgbClr val="1E5E3C"/>
                </a:solidFill>
              </a:defRPr>
            </a:pPr>
            <a:r>
              <a:t>✅ groupby por mês, produto, categoria e região (RF05)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834640"/>
            <a:ext cx="5501487" cy="310896"/>
          </a:xfrm>
          <a:prstGeom prst="roundRect">
            <a:avLst/>
          </a:prstGeom>
          <a:solidFill>
            <a:srgbClr val="EAF6EF"/>
          </a:solidFill>
          <a:ln w="1270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36576" bIns="36576"/>
          <a:lstStyle/>
          <a:p>
            <a:pPr algn="ctr">
              <a:defRPr sz="1150" b="1">
                <a:solidFill>
                  <a:srgbClr val="1E5E3C"/>
                </a:solidFill>
              </a:defRPr>
            </a:pPr>
            <a:r>
              <a:t>✅ Segmentação Bronze/Prata/Ouro com função lambda (RF06)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3007" y="2834640"/>
            <a:ext cx="5501487" cy="310896"/>
          </a:xfrm>
          <a:prstGeom prst="roundRect">
            <a:avLst/>
          </a:prstGeom>
          <a:solidFill>
            <a:srgbClr val="EAF6EF"/>
          </a:solidFill>
          <a:ln w="1270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36576" bIns="36576"/>
          <a:lstStyle/>
          <a:p>
            <a:pPr algn="ctr">
              <a:defRPr sz="1150" b="1">
                <a:solidFill>
                  <a:srgbClr val="1E5E3C"/>
                </a:solidFill>
              </a:defRPr>
            </a:pPr>
            <a:r>
              <a:t>✅ Gráfico de linha — receita por mês (RF07)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182112"/>
            <a:ext cx="5501487" cy="310896"/>
          </a:xfrm>
          <a:prstGeom prst="roundRect">
            <a:avLst/>
          </a:prstGeom>
          <a:solidFill>
            <a:srgbClr val="EAF6EF"/>
          </a:solidFill>
          <a:ln w="1270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36576" bIns="36576"/>
          <a:lstStyle/>
          <a:p>
            <a:pPr algn="ctr">
              <a:defRPr sz="1150" b="1">
                <a:solidFill>
                  <a:srgbClr val="1E5E3C"/>
                </a:solidFill>
              </a:defRPr>
            </a:pPr>
            <a:r>
              <a:t>✅ Gráfico de barras — top produtos (RF07)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3007" y="3182112"/>
            <a:ext cx="5501487" cy="310896"/>
          </a:xfrm>
          <a:prstGeom prst="roundRect">
            <a:avLst/>
          </a:prstGeom>
          <a:solidFill>
            <a:srgbClr val="EAF6EF"/>
          </a:solidFill>
          <a:ln w="1270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36576" bIns="36576"/>
          <a:lstStyle/>
          <a:p>
            <a:pPr algn="ctr">
              <a:defRPr sz="1150" b="1">
                <a:solidFill>
                  <a:srgbClr val="1E5E3C"/>
                </a:solidFill>
              </a:defRPr>
            </a:pPr>
            <a:r>
              <a:t>✅ Gráfico de dispersão — quantidade × receita (RF07)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529584"/>
            <a:ext cx="5501487" cy="310896"/>
          </a:xfrm>
          <a:prstGeom prst="roundRect">
            <a:avLst/>
          </a:prstGeom>
          <a:solidFill>
            <a:srgbClr val="EAF6EF"/>
          </a:solidFill>
          <a:ln w="1270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36576" bIns="36576"/>
          <a:lstStyle/>
          <a:p>
            <a:pPr algn="ctr">
              <a:defRPr sz="1150" b="1">
                <a:solidFill>
                  <a:srgbClr val="1E5E3C"/>
                </a:solidFill>
              </a:defRPr>
            </a:pPr>
            <a:r>
              <a:t>✅ Painel com subplots 2×2 e fig.suptitle() (RF07)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3007" y="3529584"/>
            <a:ext cx="5501487" cy="310896"/>
          </a:xfrm>
          <a:prstGeom prst="roundRect">
            <a:avLst/>
          </a:prstGeom>
          <a:solidFill>
            <a:srgbClr val="EAF6EF"/>
          </a:solidFill>
          <a:ln w="1270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36576" bIns="36576"/>
          <a:lstStyle/>
          <a:p>
            <a:pPr algn="ctr">
              <a:defRPr sz="1150" b="1">
                <a:solidFill>
                  <a:srgbClr val="1E5E3C"/>
                </a:solidFill>
              </a:defRPr>
            </a:pPr>
            <a:r>
              <a:t>✅ Todas as figuras customizadas e exportadas em PNG, dpi≥100 (RF07)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877056"/>
            <a:ext cx="5501487" cy="310896"/>
          </a:xfrm>
          <a:prstGeom prst="roundRect">
            <a:avLst/>
          </a:prstGeom>
          <a:solidFill>
            <a:srgbClr val="EAF6EF"/>
          </a:solidFill>
          <a:ln w="1270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36576" bIns="36576"/>
          <a:lstStyle/>
          <a:p>
            <a:pPr algn="ctr">
              <a:defRPr sz="1150" b="1">
                <a:solidFill>
                  <a:srgbClr val="1E5E3C"/>
                </a:solidFill>
              </a:defRPr>
            </a:pPr>
            <a:r>
              <a:t>✅ Funções com parâmetros, retorno e docstring (RF08)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3007" y="3877056"/>
            <a:ext cx="5501487" cy="310896"/>
          </a:xfrm>
          <a:prstGeom prst="roundRect">
            <a:avLst/>
          </a:prstGeom>
          <a:solidFill>
            <a:srgbClr val="EAF6EF"/>
          </a:solidFill>
          <a:ln w="1270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36576" bIns="36576"/>
          <a:lstStyle/>
          <a:p>
            <a:pPr algn="ctr">
              <a:defRPr sz="1150" b="1">
                <a:solidFill>
                  <a:srgbClr val="1E5E3C"/>
                </a:solidFill>
              </a:defRPr>
            </a:pPr>
            <a:r>
              <a:t>✅ Função lambda em pelo menos 2 contextos distintos (RF08)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224528"/>
            <a:ext cx="5501487" cy="310896"/>
          </a:xfrm>
          <a:prstGeom prst="roundRect">
            <a:avLst/>
          </a:prstGeom>
          <a:solidFill>
            <a:srgbClr val="EAF6EF"/>
          </a:solidFill>
          <a:ln w="1270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36576" bIns="36576"/>
          <a:lstStyle/>
          <a:p>
            <a:pPr algn="ctr">
              <a:defRPr sz="1150" b="1">
                <a:solidFill>
                  <a:srgbClr val="1E5E3C"/>
                </a:solidFill>
              </a:defRPr>
            </a:pPr>
            <a:r>
              <a:t>✅ Função que recebe outra função como argumento (RF08)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3007" y="4224528"/>
            <a:ext cx="5501487" cy="310896"/>
          </a:xfrm>
          <a:prstGeom prst="roundRect">
            <a:avLst/>
          </a:prstGeom>
          <a:solidFill>
            <a:srgbClr val="EAF6EF"/>
          </a:solidFill>
          <a:ln w="1270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36576" bIns="36576"/>
          <a:lstStyle/>
          <a:p>
            <a:pPr algn="ctr">
              <a:defRPr sz="1150" b="1">
                <a:solidFill>
                  <a:srgbClr val="1E5E3C"/>
                </a:solidFill>
              </a:defRPr>
            </a:pPr>
            <a:r>
              <a:t>✅ Exportação em CSV e JSON + releitura do JSON (RF09)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572000"/>
            <a:ext cx="5501487" cy="310896"/>
          </a:xfrm>
          <a:prstGeom prst="roundRect">
            <a:avLst/>
          </a:prstGeom>
          <a:solidFill>
            <a:srgbClr val="EAF6EF"/>
          </a:solidFill>
          <a:ln w="1270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36576" bIns="36576"/>
          <a:lstStyle/>
          <a:p>
            <a:pPr algn="ctr">
              <a:defRPr sz="1150" b="1">
                <a:solidFill>
                  <a:srgbClr val="1E5E3C"/>
                </a:solidFill>
              </a:defRPr>
            </a:pPr>
            <a:r>
              <a:t>✅ Classe AnalisadorDeVendas + main() + if __name__ (RF10)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33007" y="4572000"/>
            <a:ext cx="5501487" cy="310896"/>
          </a:xfrm>
          <a:prstGeom prst="roundRect">
            <a:avLst/>
          </a:prstGeom>
          <a:solidFill>
            <a:srgbClr val="EAF6EF"/>
          </a:solidFill>
          <a:ln w="1270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36576" bIns="36576"/>
          <a:lstStyle/>
          <a:p>
            <a:pPr algn="ctr">
              <a:defRPr sz="1150" b="1">
                <a:solidFill>
                  <a:srgbClr val="1E5E3C"/>
                </a:solidFill>
              </a:defRPr>
            </a:pPr>
            <a:r>
              <a:t>✅ Fluxo executado do zero sem erros (testado via nbconvert)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4919472"/>
            <a:ext cx="5501487" cy="310896"/>
          </a:xfrm>
          <a:prstGeom prst="roundRect">
            <a:avLst/>
          </a:prstGeom>
          <a:solidFill>
            <a:srgbClr val="EAF6EF"/>
          </a:solidFill>
          <a:ln w="1270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36576" bIns="36576"/>
          <a:lstStyle/>
          <a:p>
            <a:pPr algn="ctr">
              <a:defRPr sz="1150" b="1">
                <a:solidFill>
                  <a:srgbClr val="1E5E3C"/>
                </a:solidFill>
              </a:defRPr>
            </a:pPr>
            <a:r>
              <a:t>✅ Branches descritivas: main, develop, feat/pipeline-dados, docs/readme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33007" y="4919472"/>
            <a:ext cx="5501487" cy="310896"/>
          </a:xfrm>
          <a:prstGeom prst="roundRect">
            <a:avLst/>
          </a:prstGeom>
          <a:solidFill>
            <a:srgbClr val="EAF6EF"/>
          </a:solidFill>
          <a:ln w="1270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36576" bIns="36576"/>
          <a:lstStyle/>
          <a:p>
            <a:pPr algn="ctr">
              <a:defRPr sz="1150" b="1">
                <a:solidFill>
                  <a:srgbClr val="1E5E3C"/>
                </a:solidFill>
              </a:defRPr>
            </a:pPr>
            <a:r>
              <a:t>✅ Commits no padrão conventional commits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5266944"/>
            <a:ext cx="5501487" cy="310896"/>
          </a:xfrm>
          <a:prstGeom prst="roundRect">
            <a:avLst/>
          </a:prstGeom>
          <a:solidFill>
            <a:srgbClr val="EAF6EF"/>
          </a:solidFill>
          <a:ln w="1270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36576" bIns="36576"/>
          <a:lstStyle/>
          <a:p>
            <a:pPr algn="ctr">
              <a:defRPr sz="1150" b="1">
                <a:solidFill>
                  <a:srgbClr val="1E5E3C"/>
                </a:solidFill>
              </a:defRPr>
            </a:pPr>
            <a:r>
              <a:t>✅ Kanban organizado (Trello, 4 colunas, link público)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33007" y="5266944"/>
            <a:ext cx="5501487" cy="310896"/>
          </a:xfrm>
          <a:prstGeom prst="roundRect">
            <a:avLst/>
          </a:prstGeom>
          <a:solidFill>
            <a:srgbClr val="EAF6EF"/>
          </a:solidFill>
          <a:ln w="1270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36576" bIns="36576"/>
          <a:lstStyle/>
          <a:p>
            <a:pPr algn="ctr">
              <a:defRPr sz="1150" b="1">
                <a:solidFill>
                  <a:srgbClr val="1E5E3C"/>
                </a:solidFill>
              </a:defRPr>
            </a:pPr>
            <a:r>
              <a:t>✅ .gitignore configurado e documentado no README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5614416"/>
            <a:ext cx="5501487" cy="310896"/>
          </a:xfrm>
          <a:prstGeom prst="roundRect">
            <a:avLst/>
          </a:prstGeom>
          <a:solidFill>
            <a:srgbClr val="FDF2E3"/>
          </a:solidFill>
          <a:ln w="12700">
            <a:solidFill>
              <a:srgbClr val="E07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36576" bIns="36576"/>
          <a:lstStyle/>
          <a:p>
            <a:pPr algn="ctr">
              <a:defRPr sz="1150" b="0">
                <a:solidFill>
                  <a:srgbClr val="E07B00"/>
                </a:solidFill>
              </a:defRPr>
            </a:pPr>
            <a:r>
              <a:t>⏳ Vídeo de até 5 min, rosto visível, voz clara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33007" y="5614416"/>
            <a:ext cx="5501487" cy="310896"/>
          </a:xfrm>
          <a:prstGeom prst="roundRect">
            <a:avLst/>
          </a:prstGeom>
          <a:solidFill>
            <a:srgbClr val="FDF2E3"/>
          </a:solidFill>
          <a:ln w="12700">
            <a:solidFill>
              <a:srgbClr val="E07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36576" bIns="36576"/>
          <a:lstStyle/>
          <a:p>
            <a:pPr algn="ctr">
              <a:defRPr sz="1150" b="0">
                <a:solidFill>
                  <a:srgbClr val="E07B00"/>
                </a:solidFill>
              </a:defRPr>
            </a:pPr>
            <a:r>
              <a:t>⏳ Link do vídeo inserido no README.md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5961888"/>
            <a:ext cx="5501487" cy="310896"/>
          </a:xfrm>
          <a:prstGeom prst="roundRect">
            <a:avLst/>
          </a:prstGeom>
          <a:solidFill>
            <a:srgbClr val="FDF2E3"/>
          </a:solidFill>
          <a:ln w="12700">
            <a:solidFill>
              <a:srgbClr val="E07B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73152" tIns="36576" bIns="36576"/>
          <a:lstStyle/>
          <a:p>
            <a:pPr algn="ctr">
              <a:defRPr sz="1150" b="0">
                <a:solidFill>
                  <a:srgbClr val="E07B00"/>
                </a:solidFill>
              </a:defRPr>
            </a:pPr>
            <a:r>
              <a:t>⏳ Links (GitHub + vídeo + Kanban) enviados no AVA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404040"/>
                </a:solidFill>
              </a:defRPr>
            </a:pPr>
            <a:r>
              <a:t>✅ = cumprido e verificável no repositório  ·  ⏳ = etapa final de entrega, em andamento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