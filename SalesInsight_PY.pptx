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</a:defRPr>
            </a:pPr>
            <a:r>
              <a:t>SalesInsight 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 i="0">
                <a:solidFill>
                  <a:srgbClr val="C9DAEC"/>
                </a:solidFill>
              </a:defRPr>
            </a:pPr>
            <a:r>
              <a:t>Análise e visualização de dados de vendas com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C9DAEC"/>
                </a:solidFill>
              </a:defRPr>
            </a:pPr>
            <a:r>
              <a:t>Objetivo: transformar um CSV de vendas em respostas para a diretoria — tempo, produtos, regiões, clientes e relação quantidade × receita.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9CBADC"/>
                </a:solidFill>
              </a:defRPr>
            </a:pPr>
            <a:r>
              <a:t>Mini-Projeto Avaliativo M1.1 — Desenvolvedor(a) em IA para Análise Preditiva — Módulo 01, Semana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Passo 0 — Instalação e execução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Python 3.10+ e quatro bibliotecas. O vendas.csv é gerado pelo próprio código.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2000">
                <a:solidFill>
                  <a:srgbClr val="6A9955"/>
                </a:solidFill>
                <a:latin typeface="Consolas"/>
              </a:rPr>
              <a:t># 1) instalar as dependencias (terminal do VS Code)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pip install -r requirements.txt</a:t>
            </a:r>
          </a:p>
          <a:p>
            <a:pPr algn="l"/>
            <a:r>
              <a:rPr sz="2000">
                <a:solidFill>
                  <a:srgbClr val="6A9955"/>
                </a:solidFill>
                <a:latin typeface="Consolas"/>
              </a:rPr>
              <a:t>#    requirements.txt = pandas, numpy, matplotlib, seaborn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2000">
                <a:solidFill>
                  <a:srgbClr val="6A9955"/>
                </a:solidFill>
                <a:latin typeface="Consolas"/>
              </a:rPr>
              <a:t># 2) executar o fluxo completo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python salesinsight.py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2000">
                <a:solidFill>
                  <a:srgbClr val="6A9955"/>
                </a:solidFill>
                <a:latin typeface="Consolas"/>
              </a:rPr>
              <a:t># no Google Colab as bibliotecas ja vem instaladas: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!python salesinsight.py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2000">
                <a:solidFill>
                  <a:srgbClr val="6A9955"/>
                </a:solidFill>
                <a:latin typeface="Consolas"/>
              </a:rPr>
              <a:t># notebook celula a celula (Colab ou VS Code + extensao Jupyter):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SalesInsight_PY_Colab.ipynb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requirements.txt · README.md, seção "Como executar"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Estrutura do repositório no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Repositório público com o código, o dataset, os resultados e a documentação.</a:t>
            </a:r>
          </a:p>
        </p:txBody>
      </p:sp>
      <p:pic>
        <p:nvPicPr>
          <p:cNvPr id="4" name="Picture 3" descr="github_repo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41" y="1463040"/>
            <a:ext cx="797221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github.com/petersongardin/SalesInsight-PY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RF01 — Criar o dataset de vendas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Gerar o dataset no próprio código (Opção A do enunciado), com dados "sujos" para a limpeza.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def gerar_dataset_vendas(n_registros=200, seed=42):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random.seed(seed)          # seed fixa = mesmos dados em qualquer maquina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np.random.seed(seed)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dados = []                 # lista de dicionarios: 1 dict = 1 venda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for i in range(n_registros):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produto = random.choice(produtos)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quantidade = random.randint(1, 10)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preco = round(precos[produto] * random.uniform(0.85, 1.15), 2)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data = data_inicio + timedelta(days=random.randint(0, 364))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data_txt = data.strftime("%Y-%m-%d")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if random.random() &lt; 0.03:     # ~3% de datas sujas de proposito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    data_txt = "DATA INVALIDA"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dados.append({"id_venda": i + 1, "data_venda": data_txt, ...})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return pd.DataFrame(dados)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gerar_dataset_vendas().to_csv("vendas.csv", index=False)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gerar_dataset_vendas, linhas 28-77 (trecho principal)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RF01 — vendas.csv gerado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200 vendas em 8 colunas. Em vermelho, uma das datas inválidas inseridas de propósito.</a:t>
            </a:r>
          </a:p>
        </p:txBody>
      </p:sp>
      <p:pic>
        <p:nvPicPr>
          <p:cNvPr id="4" name="Picture 3" descr="rf01_venda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83598"/>
            <a:ext cx="11277295" cy="4050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Primeiras 12 linhas do vendas.csv (o arquivo completo tem 200)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RF02 — Inspecionar os dados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Mostrar a estrutura: .shape, colunas, .dtypes, .isnull().sum() e .head().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def inspecionar_dados(df):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"""Exibe as informacoes estruturais do DataFrame (sem estatisticas)."""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print("\n=== INSPECAO INICIAL DO DATASET ===")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print(f"Shape: {df.shape}")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print(f"\nColunas: {list(df.columns)}")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print(f"\nTipos de dados:\n{df.dtypes}")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print(f"\nValores nulos por coluna:\n{df.isnull().sum()}")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print(f"\nPrimeiros registros:\n{df.head()}")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return 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83-91 (código completo)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RF02 — estrutura do DataFrame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Shape (200, 8). Zero nulos: "DATA INVALIDA" é texto preenchido, isnull() não detecta.</a:t>
            </a:r>
          </a:p>
        </p:txBody>
      </p:sp>
      <p:pic>
        <p:nvPicPr>
          <p:cNvPr id="4" name="Picture 3" descr="rf02_inspe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671" y="1463040"/>
            <a:ext cx="1043635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 problema da data só aparece no RF03, quando o texto é convertido para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RF03 — Tratar os dados (datetime)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Remover espaços, converter datas com errors="coerce", garantir tipos e gerar o relatório.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def tratar_dados(df):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df = df.copy()                        # nao altera o original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relatorio = {"registros_iniciais": len(df)}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for coluna in colunas_texto: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    df[coluna] = df[coluna].astype(str).str.strip()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93">
                <a:solidFill>
                  <a:srgbClr val="6A9955"/>
                </a:solidFill>
                <a:latin typeface="Consolas"/>
              </a:rPr>
              <a:t>    # texto que nao vira data -&gt; NaT, e a linha e removida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df["data_venda"] = pd.to_datetime(df["data_venda"], errors="coerce")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invalidas = int(df["data_venda"].isnull().sum())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df = df.dropna(subset=["data_venda"])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df["quantidade"] = df["quantidade"].astype(int)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df["preco_unitario"] = df["preco_unitario"].astype(float)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relatorio["datas_invalidas_removidas"] = invalidas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relatorio["registros_finais"] = len(df)</a:t>
            </a:r>
          </a:p>
          <a:p>
            <a:pPr algn="l"/>
            <a:r>
              <a:rPr sz="1893">
                <a:solidFill>
                  <a:srgbClr val="D4D4D4"/>
                </a:solidFill>
                <a:latin typeface="Consolas"/>
              </a:rPr>
              <a:t>    return df.reset_index(drop=True), relatorio   # tupla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tratar_dados, linhas 97-138 (trecho principal)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RF03 — relatório de limpeza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Entraram 200, saíram 194: as 6 datas inválidas foram removidas (3%).</a:t>
            </a:r>
          </a:p>
        </p:txBody>
      </p:sp>
      <p:pic>
        <p:nvPicPr>
          <p:cNvPr id="4" name="Picture 3" descr="rf03_relatorio_limp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47" y="1463040"/>
            <a:ext cx="108712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Decisão: remover, não imputar. Imputação é conteúdo das Semanas 09–11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RF04 — Colunas derivadas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receita_total vetorizada, mês/trimestre/ano com .dt e faixa de valor condicional.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def criar_colunas_derivadas(df):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"""Cria receita_total, mes, mes_nome, trimestre, ano e faixa_receita_item."""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 = df.copy()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df["receita_total"] = df["quantidade"] * df["preco_unitario"]  # vetorizado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df["mes"] = df["data_venda"].dt.month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df["mes_nome"] = df["mes"].map(MESES_PT)  # dicionario, nao %B (ingles)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df["trimestre"] = "Q" + df["data_venda"].dt.quarter.astype(str)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df["ano"] = df["data_venda"].dt.year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condicoes = [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df["receita_total"] &lt; 500,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(df["receita_total"] &gt;= 500) &amp; (df["receita_total"] &lt; 5000),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df["receita_total"] &gt;= 5000,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faixas = ["Baixo Valor", "Medio Valor", "Alto Valor"]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df["faixa_receita_item"] = np.select(condicoes, faixas,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                                 default="Nao Classificado")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return 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144-161 (código completo)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RF04 — novas colunas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receita_total = quantidade × preço; mês em português pelo dicionário MESES_PT; faixa por np.select.</a:t>
            </a:r>
          </a:p>
        </p:txBody>
      </p:sp>
      <p:pic>
        <p:nvPicPr>
          <p:cNvPr id="4" name="Picture 3" descr="rf04_colunas_deriv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5057"/>
            <a:ext cx="11277295" cy="3308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Primeiras 10 linhas do DataFrame já limpo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RF05 — Métricas agregadas com groupby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Receita, quantidade e vendas por mês; top 5 produtos; categoria; receita e ticket médio por região.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metricas["por_mes"] = (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df.groupby("mes")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.agg(receita_total=("receita_total", "sum"),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 quantidade=("quantidade", "sum"),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 n_vendas=("id_venda", "count"))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.reset_index())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metricas["top_produtos"] = (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df.groupby("produto")["receita_total"].sum()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.sort_values(ascending=False).head(5).reset_index())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metricas["por_regiao"] = (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df.groupby("regiao")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.agg(receita_total=("receita_total", "sum"),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     ticket_medio=("receita_total", "mean"))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   .sort_values("receita_total", ascending=False).reset_index())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683">
                <a:solidFill>
                  <a:srgbClr val="D4D4D4"/>
                </a:solidFill>
                <a:latin typeface="Consolas"/>
              </a:rPr>
              <a:t>return metricas      # dicionario de DataFrames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calcular_metricas, linhas 177-211 (trecho principal)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RF05 — métricas por mês e por região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Fevereiro e outubro são os melhores meses. Centro-Oeste lidera em receita; Nordeste tem o maior ticket médio.</a:t>
            </a:r>
          </a:p>
        </p:txBody>
      </p:sp>
      <p:pic>
        <p:nvPicPr>
          <p:cNvPr id="4" name="Picture 3" descr="rf05_metricas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62332"/>
            <a:ext cx="5501487" cy="4693456"/>
          </a:xfrm>
          <a:prstGeom prst="rect">
            <a:avLst/>
          </a:prstGeom>
        </p:spPr>
      </p:pic>
      <p:pic>
        <p:nvPicPr>
          <p:cNvPr id="5" name="Picture 4" descr="rf05_metricas_por_regi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58614"/>
            <a:ext cx="5501487" cy="3300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Valores em R$, calculados sobre os 194 registros limpos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RF06 — Segmentar clientes por gasto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Bronze abaixo de R$ 5.000, Prata até R$ 15.000, Ouro acima. Classificação com lambda + .apply().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def segmentar_clientes(df):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"""Soma o gasto por cliente e classifica em Bronze / Prata / Ouro."""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clientes = (df.groupby("cliente")["receita_total"].sum()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            .reset_index(name="total_gasto"))</a:t>
            </a:r>
          </a:p>
          <a:p>
            <a:pPr algn="l"/>
            <a:r>
              <a:rPr sz="1789">
                <a:solidFill>
                  <a:srgbClr val="6A9955"/>
                </a:solidFill>
                <a:latin typeface="Consolas"/>
              </a:rPr>
              <a:t>    # lambda #1: regra de segmento aplicada linha a linha com .apply()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clientes["segmento"] = clientes["total_gasto"].apply(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    lambda v: "Bronze" if v &lt; 5000 else ("Prata" if v &lt;= 15000 else "Ouro"))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clientes = clientes.sort_values("total_gasto", ascending=False)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clientes = clientes.reset_index(drop=True)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print("\n=== TOP 10 CLIENTES ===")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print(clientes.head(10).round(2).to_string(index=False))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print("\n=== CLIENTES POR SEGMENTO ===")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print(clientes["segmento"].value_counts())</a:t>
            </a:r>
          </a:p>
          <a:p>
            <a:pPr algn="l"/>
            <a:r>
              <a:rPr sz="1789">
                <a:solidFill>
                  <a:srgbClr val="D4D4D4"/>
                </a:solidFill>
                <a:latin typeface="Consolas"/>
              </a:rPr>
              <a:t>    return clientes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217-231 (código completo)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RF06 — top 10 clientes e segmentos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35 clientes em Ouro, 9 em Prata e 5 em Bronze: os limites do enunciado favorecem Ouro.</a:t>
            </a:r>
          </a:p>
        </p:txBody>
      </p:sp>
      <p:pic>
        <p:nvPicPr>
          <p:cNvPr id="4" name="Picture 3" descr="rf06_top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39697"/>
            <a:ext cx="5501487" cy="4538726"/>
          </a:xfrm>
          <a:prstGeom prst="rect">
            <a:avLst/>
          </a:prstGeom>
        </p:spPr>
      </p:pic>
      <p:pic>
        <p:nvPicPr>
          <p:cNvPr id="5" name="Picture 4" descr="rf06_seg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58587"/>
            <a:ext cx="5501487" cy="3500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Limitação conhecida, registrada no README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RF07.1 — Gráfico de linha: receita por mês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Título, rótulos nos eixos, legenda, figsize, cores escolhidas, tight_layout e dpi ≥ 100.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def grafico_receita_por_mes(por_mes):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"""Figura 1 - linha: receita total por mes."""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fig, ax = plt.subplots(figsize=(12, 6))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ax.plot(por_mes["mes"], por_mes["receita_total"], marker="o",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        linewidth=2, color=COR_PRINCIPAL, label="Receita total")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ax.set_title("Receita Total por Mes")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ax.set_xlabel("Mes")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ax.set_ylabel("Receita Total (R$)")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ax.set_xticks(range(1, 13))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ax.legend()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_salvar(fig, "receita_por_mes.png")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257-267 · _salvar() aplica tight_layout, savefig(dpi=150) e close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RF07.1 — Gráfico de linha: receita por mês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Linha porque é uma série no tempo. Receita oscila de R$ 58 mil (set) a R$ 186 mil (fev).</a:t>
            </a:r>
          </a:p>
        </p:txBody>
      </p:sp>
      <p:pic>
        <p:nvPicPr>
          <p:cNvPr id="4" name="Picture 3" descr="receita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07" y="1463040"/>
            <a:ext cx="978408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outputs/graficos/receita_por_mes.png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RF07.2 — Gráfico de barras: top 5 produtos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Título, rótulos nos eixos, legenda, figsize, cores escolhidas, tight_layout e dpi ≥ 100.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def grafico_top_produtos(top_produtos):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"""Figura 2 - barras horizontais: top 5 produtos por receita."""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fig, ax = plt.subplots(figsize=(10, 6))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sns.barplot(data=top_produtos, y="produto", x="receita_total",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            hue="produto", legend=False, palette="Blues_r", ax=ax)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ax.set_title("Top 5 Produtos por Receita")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ax.set_xlabel("Receita Total (R$)")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ax.set_ylabel("Produto")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    _salvar(fig, "top_produtos.png")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270-278 · _salvar() aplica tight_layout, savefig(dpi=150) e close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RF07.2 — Gráfico de barras: top 5 produtos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Barras horizontais para comparar produtos. Notebook lidera com R$ 493 mil.</a:t>
            </a:r>
          </a:p>
        </p:txBody>
      </p:sp>
      <p:pic>
        <p:nvPicPr>
          <p:cNvPr id="4" name="Picture 3" descr="top_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147" y="1463040"/>
            <a:ext cx="81534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outputs/graficos/top_produtos.png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1F4E79"/>
                </a:solidFill>
              </a:defRPr>
            </a:pPr>
            <a:r>
              <a:t>RF07.3 — Gráfico de dispersão: quantidade × receita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Título, rótulos nos eixos, legenda, figsize, cores escolhidas, tight_layout e dpi ≥ 100.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def grafico_quantidade_vs_receita(df):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"""Figura 3 - dispersao: quantidade x receita, cor por categoria."""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fig, ax = plt.subplots(figsize=(10, 6))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sns.scatterplot(data=df, x="quantidade", y="receita_total",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                hue="categoria", palette=CORES_CATEGORIA, s=70, ax=ax)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ax.set_title("Quantidade x Receita por Transacao")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ax.set_xlabel("Quantidade vendida")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ax.set_ylabel("Receita da transacao (R$)")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ax.legend(title="Categoria")</a:t>
            </a:r>
          </a:p>
          <a:p>
            <a:pPr algn="l"/>
            <a:r>
              <a:rPr sz="1935">
                <a:solidFill>
                  <a:srgbClr val="D4D4D4"/>
                </a:solidFill>
                <a:latin typeface="Consolas"/>
              </a:rPr>
              <a:t>    _salvar(fig, "quantidade_vs_receita.png")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281-290 · _salvar() aplica tight_layout, savefig(dpi=150) e close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1F4E79"/>
                </a:solidFill>
              </a:defRPr>
            </a:pPr>
            <a:r>
              <a:t>RF07.3 — Gráfico de dispersão: quantidade × receita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Cada ponto é uma venda. X = quantidade, Y = receita. Periféricos ficam baixos mesmo com volume alto.</a:t>
            </a:r>
          </a:p>
        </p:txBody>
      </p:sp>
      <p:pic>
        <p:nvPicPr>
          <p:cNvPr id="4" name="Picture 3" descr="quantidade_vs_rece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147" y="1463040"/>
            <a:ext cx="81534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outputs/graficos/quantidade_vs_receita.png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RF07.4 — Painel com subplots 2×2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plt.subplots(2, 2), cada eixo acessado individualmente e título geral com fig.suptitle().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fig, axes = plt.subplots(2, 2, figsize=(14, 9))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axes[0, 0].plot(por_mes["mes"], por_mes["receita_total"], marker="o")  # linha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axes[0, 1].bar(top["produto"], top["receita_total"])                 # barras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for categoria, grupo in df.groupby("categoria"):                    # dispersao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    axes[1, 0].scatter(grupo["quantidade"], grupo["receita_total"],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                       color=CORES_CATEGORIA[categoria], label=categoria)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axes[1, 1].bar(regiao["regiao"], regiao["receita_total"])          # regiao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12">
                <a:solidFill>
                  <a:srgbClr val="6A9955"/>
                </a:solidFill>
                <a:latin typeface="Consolas"/>
              </a:rPr>
              <a:t># cada eixo recebe titulo e rotulos proprios: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axes[0, 0].set_title("Receita por Mes")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axes[0, 0].set_xlabel("Mes")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axes[0, 0].set_ylabel("Receita (R$)")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fig.suptitle("SalesInsight PY - Painel Resumo", fontsize=16)</a:t>
            </a:r>
          </a:p>
          <a:p>
            <a:pPr algn="l"/>
            <a:r>
              <a:rPr sz="1812">
                <a:solidFill>
                  <a:srgbClr val="D4D4D4"/>
                </a:solidFill>
                <a:latin typeface="Consolas"/>
              </a:rPr>
              <a:t>_salvar(fig, "painel_resumo.png")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grafico_painel_resumo, linhas 293-328 (trecho principal)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RF07.4 — Painel com subplots 2×2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As três visões anteriores mais a receita por região, numa figura só.</a:t>
            </a:r>
          </a:p>
        </p:txBody>
      </p:sp>
      <p:pic>
        <p:nvPicPr>
          <p:cNvPr id="4" name="Picture 3" descr="painel_re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927" y="1463040"/>
            <a:ext cx="760984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outputs/graficos/painel_resumo.png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1F4E79"/>
                </a:solidFill>
              </a:defRPr>
            </a:pPr>
            <a:r>
              <a:t>Bônus — Regressão linear: receita em função da quantidade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Extra, fora do exigido (Semana 13). X = quantidade (independente), Y = receita (dependente).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def grafico_regressao_bonus(df):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fig, ax = plt.subplots(figsize=(12, 7))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xs = np.linspace(1, 10, 50)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for categoria, grupo in df.groupby("categoria"):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x, y = grupo["quantidade"], grupo["receita_total"]</a:t>
            </a:r>
          </a:p>
          <a:p>
            <a:pPr algn="l"/>
            <a:r>
              <a:rPr sz="1859">
                <a:solidFill>
                  <a:srgbClr val="6A9955"/>
                </a:solidFill>
                <a:latin typeface="Consolas"/>
              </a:rPr>
              <a:t>        # reta de minimos quadrados: y = inclinacao * x + intercepto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inclinacao, intercepto = np.polyfit(x, y, 1)</a:t>
            </a:r>
          </a:p>
          <a:p>
            <a:pPr algn="l"/>
            <a:r>
              <a:rPr sz="1859">
                <a:solidFill>
                  <a:srgbClr val="6A9955"/>
                </a:solidFill>
                <a:latin typeface="Consolas"/>
              </a:rPr>
              <a:t>        # R2: quanto da variacao da receita a reta explica (0 a 1)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r2 = np.corrcoef(x, y)[0, 1] ** 2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ax.scatter(x, y, color=CORES_CATEGORIA[categoria], alpha=0.5)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ax.plot(xs, inclinacao * xs + intercepto,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            label=f"{categoria}: y = {inclinacao:.0f}x  (R² = {r2:.2f})")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ax.set_xlabel("Quantidade vendida (variavel independente X)")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ax.set_ylabel("Receita da transacao em R$ (variavel dependente Y)")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ax.legend(title="Reta ajustada por categoria")</a:t>
            </a:r>
          </a:p>
          <a:p>
            <a:pPr algn="l"/>
            <a:r>
              <a:rPr sz="1859">
                <a:solidFill>
                  <a:srgbClr val="D4D4D4"/>
                </a:solidFill>
                <a:latin typeface="Consolas"/>
              </a:rPr>
              <a:t>    _salvar(fig, "bonus_regressao.png")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grafico_regressao_bonus, linhas 334-363 (trecho principal)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Bônus — Regressão linear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A inclinação é o preço médio por unidade: Celulares R$ 2.024 (R² 0,93). Computadores tem R² 0,43 porque mistura Notebook e Monitor.</a:t>
            </a:r>
          </a:p>
        </p:txBody>
      </p:sp>
      <p:pic>
        <p:nvPicPr>
          <p:cNvPr id="4" name="Picture 3" descr="bonus_regre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670" y="1463040"/>
            <a:ext cx="838635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outputs/graficos/bonus_regressao.png · bônus B04, não cobrado na nota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RF08 — Função de ordem superior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Uma função que recebe outra função como argumento, usada com lambdas em contextos diferentes.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def processar_coluna(df, coluna, funcao_transformacao, nome_saida=None):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"""Aplica `funcao_transformacao` a cada valor de `coluna`."""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nome_saida = nome_saida or f"{coluna}_transformado"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df[nome_saida] = df[coluna].apply(funcao_transformacao)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return df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909">
                <a:solidFill>
                  <a:srgbClr val="6A9955"/>
                </a:solidFill>
                <a:latin typeface="Consolas"/>
              </a:rPr>
              <a:t># uso 1: receita em milhares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df = processar_coluna(df, "receita_total",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                  lambda x: round(x / 1000, 2),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                  nome_saida="receita_em_milhares")</a:t>
            </a:r>
          </a:p>
          <a:p>
            <a:pPr algn="l"/>
            <a:r>
              <a:rPr sz="1909">
                <a:solidFill>
                  <a:srgbClr val="6A9955"/>
                </a:solidFill>
                <a:latin typeface="Consolas"/>
              </a:rPr>
              <a:t># uso 2: perfil de volume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df = processar_coluna(df, "quantidade",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                  lambda q: "Alto Volume" if q &gt; 5 else "Baixo Volume",</a:t>
            </a:r>
          </a:p>
          <a:p>
            <a:pPr algn="l"/>
            <a:r>
              <a:rPr sz="1909">
                <a:solidFill>
                  <a:srgbClr val="D4D4D4"/>
                </a:solidFill>
                <a:latin typeface="Consolas"/>
              </a:rPr>
              <a:t>                      nome_saida="perfil_volume")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processar_coluna, linhas 167-171; usos em AnalisadorDeVendas.transformar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RF08 — colunas criadas pelos lambdas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perfil_volume (lambda de texto) e receita_em_milhares (lambda numérico), pela mesma função.</a:t>
            </a:r>
          </a:p>
        </p:txBody>
      </p:sp>
      <p:pic>
        <p:nvPicPr>
          <p:cNvPr id="4" name="Picture 3" descr="rf08_ordem_sup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5171"/>
            <a:ext cx="11277295" cy="40077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 terceiro lambda do projeto é o da segmentação de clientes (RF06)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RF09 — Exportar CSV e JSON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Gravar CSV com .to_csv(), JSON com json.dump() e ler o JSON de volta com json.load().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def exportar_resultados(metricas, clientes, estatisticas):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"""Grava CSVs e JSON e le o JSON de volta para conferencia."""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os.makedirs(PASTA_SAIDA, exist_ok=True)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metricas["por_mes"].to_csv(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os.path.join(PASTA_SAIDA, "metricas_por_mes.csv"),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index=False, encoding="utf-8-sig")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clientes.to_csv(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os.path.join(PASTA_SAIDA, "segmentacao_clientes.csv"),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index=False, encoding="utf-8-sig")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serializavel = {k: round(float(v), 2) for k, v in estatisticas.items()}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caminho = os.path.join(PASTA_SAIDA, "estatisticas_gerais.json")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with open(caminho, "w", encoding="utf-8") as f: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json.dump(serializavel, f, indent=4, ensure_ascii=False)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with open(caminho, "r", encoding="utf-8") as f: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    conferencia = json.load(f)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print(f"\nJSON gravado e lido de volta: {conferencia}")</a:t>
            </a:r>
          </a:p>
          <a:p>
            <a:pPr algn="l"/>
            <a:r>
              <a:rPr sz="1594">
                <a:solidFill>
                  <a:srgbClr val="D4D4D4"/>
                </a:solidFill>
                <a:latin typeface="Consolas"/>
              </a:rPr>
              <a:t>    return conferencia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linhas 369-387 (código completo)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RF09 — JSON gravado e relido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O conteúdo lido de volta é igual ao gravado: prova de que a escrita funcionou.</a:t>
            </a:r>
          </a:p>
        </p:txBody>
      </p:sp>
      <p:pic>
        <p:nvPicPr>
          <p:cNvPr id="4" name="Picture 3" descr="rf09_estatisticas_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47" y="1463040"/>
            <a:ext cx="108712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outputs/estatisticas_gerais.json · também gravados: metricas_por_mes.csv e segmentacao_clientes.csv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F4E79"/>
                </a:solidFill>
              </a:defRPr>
            </a:pPr>
            <a:r>
              <a:t>RF10 — Fluxo completo: classe e main()  · 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A classe guarda o estado entre as etapas. A limpeza acontece antes de tudo.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48920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class AnalisadorDeVendas: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def carregar(self, caminho):  self.df_bruto = pd.read_csv(caminho)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def transformar(self):        # limpa ANTES das colunas derivadas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    df, self.relatorio = tratar_dados(self.df_bruto)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    df = criar_colunas_derivadas(df)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def analisar(self):           # metricas + segmentacao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def visualizar(self):         # 4 graficos + bonus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def resumo(self):             # estatisticas + exportacao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def main():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if not os.path.exists("vendas.csv"):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    gerar_dataset_vendas().to_csv("vendas.csv", index=False)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 = AnalisadorDeVendas()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analisador.carregar("vendas.csv")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inspecionar_dados(analisador.df_bruto)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analisador.transformar()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analisador.analisar()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analisador.visualizar()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analisador.resumo()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if __name__ == "__main__":      # so roda se executar o arquivo direto</a:t>
            </a:r>
          </a:p>
          <a:p>
            <a:pPr algn="l"/>
            <a:r>
              <a:rPr sz="1377">
                <a:solidFill>
                  <a:srgbClr val="D4D4D4"/>
                </a:solidFill>
                <a:latin typeface="Consolas"/>
              </a:rPr>
              <a:t>    main()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salesinsight.py · AnalisadorDeVendas linhas 393-446 · main linhas 452-469 (resumido)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RF10 — execução de ponta a ponta  · 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Saída real de python salesinsight.py: roda do zero, sem erros, até [CONCLUIDO].</a:t>
            </a:r>
          </a:p>
        </p:txBody>
      </p:sp>
      <p:pic>
        <p:nvPicPr>
          <p:cNvPr id="4" name="Picture 3" descr="rf10_saida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3" y="1463040"/>
            <a:ext cx="9529948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Trechos do início e do fim da saída; o meio (métricas) aparece nos slides RF05 e RF06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Versionamento — grafo das branches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feat/pipeline-dados (código) e docs/readme (documentação) entram em develop, que entra em main.</a:t>
            </a:r>
          </a:p>
        </p:txBody>
      </p:sp>
      <p:pic>
        <p:nvPicPr>
          <p:cNvPr id="4" name="Picture 3" descr="github_network_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41" y="1463040"/>
            <a:ext cx="797221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GitHub › Insights › Network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Versionamento — as 4 branches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main = estável · develop = integração · feat/pipeline-dados = código · docs/readme = documentação.</a:t>
            </a:r>
          </a:p>
        </p:txBody>
      </p:sp>
      <p:pic>
        <p:nvPicPr>
          <p:cNvPr id="4" name="Picture 3" descr="github_branch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41" y="1463040"/>
            <a:ext cx="797221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github.com/petersongardin/SalesInsight-PY/branches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Versionamento — histórico de commits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Mensagens no padrão conventional commits: feat:, fix:, docs:, test:.</a:t>
            </a:r>
          </a:p>
        </p:txBody>
      </p:sp>
      <p:pic>
        <p:nvPicPr>
          <p:cNvPr id="4" name="Picture 3" descr="github_comm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41" y="1463040"/>
            <a:ext cx="797221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github.com/petersongardin/SalesInsight-PY/commits/main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Organização — Kanban no Trello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Backlog · A Fazer · Em Andamento · Concluído. Um card por requisito.</a:t>
            </a:r>
          </a:p>
        </p:txBody>
      </p:sp>
      <p:pic>
        <p:nvPicPr>
          <p:cNvPr id="4" name="Picture 3" descr="trello_board_top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741" y="1463040"/>
            <a:ext cx="797221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trello.com/b/GrpLE5D8/salesinsight-py-kanban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Decisão técnica: remover as datas inválidas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Por que remover em vez de manter (ou inventar uma data)?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77295" cy="1005840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rIns="228600" tIns="137160" bIns="137160"/>
          <a:lstStyle/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df["data_venda"] = pd.to_datetime(df["data_venda"], errors="coerce")</a:t>
            </a:r>
          </a:p>
          <a:p>
            <a:pPr algn="l"/>
            <a:r>
              <a:rPr sz="2000">
                <a:solidFill>
                  <a:srgbClr val="D4D4D4"/>
                </a:solidFill>
                <a:latin typeface="Consolas"/>
              </a:rPr>
              <a:t>df = df.dropna(subset=["data_venda"])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43200"/>
            <a:ext cx="3576218" cy="3291840"/>
          </a:xfrm>
          <a:prstGeom prst="roundRect">
            <a:avLst>
              <a:gd name="adj" fmla="val 5000"/>
            </a:avLst>
          </a:prstGeom>
          <a:solidFill>
            <a:srgbClr val="EAF1F8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ctr">
              <a:defRPr sz="2000" b="1">
                <a:solidFill>
                  <a:srgbClr val="1F4E79"/>
                </a:solidFill>
              </a:defRPr>
            </a:pPr>
            <a:r>
              <a:t>Por que remover</a:t>
            </a:r>
          </a:p>
          <a:p>
            <a:pPr>
              <a:spcBef>
                <a:spcPts val="1000"/>
              </a:spcBef>
              <a:defRPr sz="1700">
                <a:solidFill>
                  <a:srgbClr val="404040"/>
                </a:solidFill>
              </a:defRPr>
            </a:pPr>
            <a:r>
              <a:t>Sem data não há mês nem trimestre. Manter a linha distorceria as métricas por período.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7738" y="2743200"/>
            <a:ext cx="3576218" cy="3291840"/>
          </a:xfrm>
          <a:prstGeom prst="roundRect">
            <a:avLst>
              <a:gd name="adj" fmla="val 5000"/>
            </a:avLst>
          </a:prstGeom>
          <a:solidFill>
            <a:srgbClr val="FDF2E3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ctr">
              <a:defRPr sz="2000" b="1">
                <a:solidFill>
                  <a:srgbClr val="E07B00"/>
                </a:solidFill>
              </a:defRPr>
            </a:pPr>
            <a:r>
              <a:t>Quanto custa</a:t>
            </a:r>
          </a:p>
          <a:p>
            <a:pPr>
              <a:spcBef>
                <a:spcPts val="1000"/>
              </a:spcBef>
              <a:defRPr sz="1700">
                <a:solidFill>
                  <a:srgbClr val="404040"/>
                </a:solidFill>
              </a:defRPr>
            </a:pPr>
            <a:r>
              <a:t>6 de 200 registros (3%), e a perda fica registrada no relatório de limpeza.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58276" y="2743200"/>
            <a:ext cx="3576218" cy="3291840"/>
          </a:xfrm>
          <a:prstGeom prst="roundRect">
            <a:avLst>
              <a:gd name="adj" fmla="val 5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/>
          <a:lstStyle/>
          <a:p>
            <a:pPr algn="ctr">
              <a:defRPr sz="2000" b="1">
                <a:solidFill>
                  <a:srgbClr val="2E8B57"/>
                </a:solidFill>
              </a:defRPr>
            </a:pPr>
            <a:r>
              <a:t>Por que não imputar</a:t>
            </a:r>
          </a:p>
          <a:p>
            <a:pPr>
              <a:spcBef>
                <a:spcPts val="1000"/>
              </a:spcBef>
              <a:defRPr sz="1700">
                <a:solidFill>
                  <a:srgbClr val="404040"/>
                </a:solidFill>
              </a:defRPr>
            </a:pPr>
            <a:r>
              <a:t>Preencher a data seria inventar informação. Imputação é conteúdo das Semanas 09–11.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Registrada no README (Decisões técnicas) e no DECISOES.md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O que poderia melhorar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613583" cy="3108960"/>
          </a:xfrm>
          <a:prstGeom prst="roundRect">
            <a:avLst>
              <a:gd name="adj" fmla="val 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2860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Dados reais</a:t>
            </a:r>
          </a:p>
          <a:p>
            <a:pPr>
              <a:spcBef>
                <a:spcPts val="1000"/>
              </a:spcBef>
              <a:defRPr sz="1600">
                <a:solidFill>
                  <a:srgbClr val="F0F0F0"/>
                </a:solidFill>
              </a:defRPr>
            </a:pPr>
            <a:r>
              <a:t>Trocar o CSV sintético por um dataset real, com mais tipos de sujeira.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45103" y="1371600"/>
            <a:ext cx="2613583" cy="310896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2860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Testes</a:t>
            </a:r>
          </a:p>
          <a:p>
            <a:pPr>
              <a:spcBef>
                <a:spcPts val="1000"/>
              </a:spcBef>
              <a:defRPr sz="1600">
                <a:solidFill>
                  <a:srgbClr val="F0F0F0"/>
                </a:solidFill>
              </a:defRPr>
            </a:pPr>
            <a:r>
              <a:t>Testes automatizados para a limpeza e as métricas.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3007" y="1371600"/>
            <a:ext cx="2613583" cy="3108960"/>
          </a:xfrm>
          <a:prstGeom prst="roundRect">
            <a:avLst>
              <a:gd name="adj" fmla="val 5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2860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Mais bônus</a:t>
            </a:r>
          </a:p>
          <a:p>
            <a:pPr>
              <a:spcBef>
                <a:spcPts val="1000"/>
              </a:spcBef>
              <a:defRPr sz="1600">
                <a:solidFill>
                  <a:srgbClr val="F0F0F0"/>
                </a:solidFill>
              </a:defRPr>
            </a:pPr>
            <a:r>
              <a:t>Média móvel (B01), tabela mês × categoria (B03) e quartis (B05).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20911" y="1371600"/>
            <a:ext cx="2613583" cy="310896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2860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Segmentos</a:t>
            </a:r>
          </a:p>
          <a:p>
            <a:pPr>
              <a:spcBef>
                <a:spcPts val="1000"/>
              </a:spcBef>
              <a:defRPr sz="1600">
                <a:solidFill>
                  <a:srgbClr val="F0F0F0"/>
                </a:solidFill>
              </a:defRPr>
            </a:pPr>
            <a:r>
              <a:t>Rever os limites Bronze/Prata/Ouro: hoje 35 de 49 clientes viram Ouro.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772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F4E79"/>
                </a:solidFill>
              </a:defRPr>
            </a:pPr>
            <a:r>
              <a:t>Repositório: github.com/petersongardin/SalesInsight-PY</a:t>
            </a:r>
          </a:p>
          <a:p>
            <a:pPr algn="ctr">
              <a:defRPr sz="1700" b="1" i="0">
                <a:solidFill>
                  <a:srgbClr val="1F4E79"/>
                </a:solidFill>
              </a:defRPr>
            </a:pPr>
            <a:r>
              <a:t>Kanban: trello.com/b/GrpLE5D8/salesinsight-py-kanban</a:t>
            </a:r>
          </a:p>
          <a:p>
            <a:pPr algn="ctr">
              <a:defRPr sz="1700" b="1" i="0">
                <a:solidFill>
                  <a:srgbClr val="1F4E79"/>
                </a:solidFill>
              </a:defRPr>
            </a:pPr>
            <a:r>
              <a:t>Vídeo: [link do Google Drive]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F4E79"/>
                </a:solidFill>
              </a:defRPr>
            </a:pPr>
            <a:r>
              <a:t>Checklist final de 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04040"/>
                </a:solidFill>
              </a:defRPr>
            </a:pPr>
            <a:r>
              <a:t>Itens da seção 6 do enunciado. Tudo marcado pode ser conferido no repositório.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Repositório PÚBLICO no GitHub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3007" y="137160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salesinsight.py + notebook SalesInsight_PY_Colab.ipynb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0992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README.md com objetivo, execução e conceitos aplicados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70992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vendas.csv gerado pelo próprio código (seed=42)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825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Inspeção com .shape, .dtypes, .isnull(), .head() (RF02)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204825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Conversão de tipo, remoção de data inválida e relatório (RF03)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8658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datetime: mês, trimestre e ano extraídos (RF04)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238658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Colunas receita_total e faixa_receita_item (RF04)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24912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Transformação condicional vetorizada com np.select (RF04)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724912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groupby por mês, produto, categoria e região (RF05)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6324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Segmentação Bronze/Prata/Ouro com lambda (RF06)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06324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Gráfico de linha: receita por mês (RF07)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0156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Gráfico de barras: top produtos (RF07)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340156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Gráfico de dispersão: quantidade × receita (RF07)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Painel 2×2 com fig.suptitle() (RF07)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373989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Figuras customizadas e exportadas em PNG, dpi ≥ 100 (RF07)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07822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Funções com parâmetros, retorno e docstring (RF08)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407822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Lambda em pelo menos 2 contextos distintos (RF08)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16552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Função que recebe outra função como argumento (RF08)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4416552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CSV e JSON exportados + releitura do JSON (RF09)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75488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Classe AnalisadorDeVendas + main() + if __name__ (RF10)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4754880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Fluxo executado do zero sem erros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9320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Branches: main, develop, feat/pipeline-dados, docs/readme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5093208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Commits no padrão conventional commits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43153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Kanban no Trello com 4 colunas e link público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5431536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EAF6E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1">
                <a:solidFill>
                  <a:srgbClr val="1E5E3C"/>
                </a:solidFill>
              </a:defRPr>
            </a:pPr>
            <a:r>
              <a:t>✅ Bônus: regressão linear por categoria (B04)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6986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FDF2E3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0">
                <a:solidFill>
                  <a:srgbClr val="E07B00"/>
                </a:solidFill>
              </a:defRPr>
            </a:pPr>
            <a:r>
              <a:t>⏳ Vídeo de até 5 min, rosto visível e voz clara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5769864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FDF2E3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0">
                <a:solidFill>
                  <a:srgbClr val="E07B00"/>
                </a:solidFill>
              </a:defRPr>
            </a:pPr>
            <a:r>
              <a:t>⏳ Link do vídeo inserido no README.md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108192"/>
            <a:ext cx="5501487" cy="301752"/>
          </a:xfrm>
          <a:prstGeom prst="roundRect">
            <a:avLst>
              <a:gd name="adj" fmla="val 20000"/>
            </a:avLst>
          </a:prstGeom>
          <a:solidFill>
            <a:srgbClr val="FDF2E3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>
              <a:defRPr sz="1150" b="0">
                <a:solidFill>
                  <a:srgbClr val="E07B00"/>
                </a:solidFill>
              </a:defRPr>
            </a:pPr>
            <a:r>
              <a:t>⏳ Links do GitHub, vídeo e Kanban enviados no AVA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19088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A8A8A"/>
                </a:solidFill>
              </a:defRPr>
            </a:pPr>
            <a:r>
              <a:t>✅ cumprido e verificável no repositório  ·  ⏳ etapa final de entrega, em andamento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